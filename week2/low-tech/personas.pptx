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Personas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Hub201 Pre-Acceleration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Buyer and User Personas grounded in evidence, not imagination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to Use This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1. Build 2-3 persona cards. At minimum one buyer persona and one user persona.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If buyer and user are the same person (common in small companies), confirm that explicitly.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2. Distinguish early customers from ideal customers.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Early customers: tolerate bugs, give feedback, decide fast, great for pilots.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Ideal customers: need proof, longer sales cycles, represent the scalable market.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Focus your immediate outreach on early customer personas.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3. Complete the buyer map. In B2B, the person who uses your product is rarely the person who signs the cheque.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Identify the champion, influencer, decision maker, budget holder, and saboteur.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4. Define your beachhead. Can you name 10 specific companies in this segment?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If not, the definition is too vague.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5. For every field, note your evidence source.</a:t>
            </a:r>
          </a:p>
          <a:p>
            <a:pPr>
              <a:spcBef>
                <a:spcPts val="600"/>
              </a:spcBef>
              <a:defRPr sz="1100" b="0">
                <a:solidFill>
                  <a:srgbClr val="0F172A"/>
                </a:solidFill>
                <a:latin typeface="Calibri"/>
              </a:defRPr>
            </a:pPr>
            <a:r>
              <a:t>   Personas built on assumptions are fiction. Personas built on evidence are targeting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Persona Card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Persona Nickname: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"Viktor the SOC Lead"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Role / Title: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5448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Specific job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Buying Role: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Champion / Influencer / Decision Maker / Budget Holder / End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Early or Ideal Customer: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Early Customer (tolerates rough edges) / Ideal Customer (needs proof)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Company Profile: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Size: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56616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Industry: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93192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Geography: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29768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Trigger Event: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521208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causes them to look for a solution 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Jobs to Be Done: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03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Pain Points (ranked):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34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2004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004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Current Solution: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976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do they do today? Include "do nothing" if applicable.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Channels: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2120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Where to find them: LinkedIn groups, conferences, communities...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852160"/>
            <a:ext cx="91440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many people matching this persona have you spoken to? What is validated vs assumed?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Persona Card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Persona Nickname: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"Viktor the SOC Lead"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Role / Title: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5448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Specific job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Buying Role: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Champion / Influencer / Decision Maker / Budget Holder / End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Early or Ideal Customer: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Early Customer (tolerates rough edges) / Ideal Customer (needs proof)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Company Profile: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Size: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56616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Industry: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93192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Geography: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29768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Trigger Event: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521208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causes them to look for a solution 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Jobs to Be Done: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03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Pain Points (ranked):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34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2004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004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Current Solution: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976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do they do today? Include "do nothing" if applicable.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Channels: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2120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Where to find them: LinkedIn groups, conferences, communities...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852160"/>
            <a:ext cx="91440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many people matching this persona have you spoken to? What is validated vs assumed?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Persona Card 3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Persona Nickname: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"Viktor the SOC Lead"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Role / Title: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5448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Specific job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Buying Role: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Champion / Influencer / Decision Maker / Budget Holder / End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Early or Ideal Customer: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292608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Early Customer (tolerates rough edges) / Ideal Customer (needs proof)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Company Profile: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Size: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56616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Industry: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93192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Geography: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29768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Trigger Event: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521208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causes them to look for a solution 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Jobs to Be Done: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03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Pain Points (ranked):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34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2004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0040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Current Solution: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976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do they do today? Include "do nothing" if applicable.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Channels: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21208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Where to find them: LinkedIn groups, conferences, communities...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D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852160"/>
            <a:ext cx="91440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many people matching this persona have you spoken to? What is validated vs assumed?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Buyer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Map the buying roles in your target organisation. Each deal involves multiple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Champion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Fights for your product internally. Feels the pain most acutely.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45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Who: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45920"/>
            <a:ext cx="2103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Title /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Motivation: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Why they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Objection: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73736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could stop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40"/>
            <a:ext cx="1828800" cy="731520"/>
          </a:xfrm>
          <a:prstGeom prst="round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Influencer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Shapes the decision but does not make it. Technical evaluator.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Who: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651760"/>
            <a:ext cx="2103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Title /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Motivation: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237744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Why they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Objection: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74320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could stop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828800" cy="731520"/>
          </a:xfrm>
          <a:prstGeom prst="round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Decision Maker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Has final authority to approve. Signs off or kills the deal.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Who: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657600"/>
            <a:ext cx="2103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Title /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3832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Motivation: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38328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Why they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749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Objection: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74904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could stop them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1828800" cy="731520"/>
          </a:xfrm>
          <a:prstGeom prst="round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Budget Holder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Controls the budget line. May differ from decision maker.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663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Who: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663440"/>
            <a:ext cx="2103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Title /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89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Motivation: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38912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Why they 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7548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Objection: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475488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could stop them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828800" cy="731520"/>
          </a:xfrm>
          <a:prstGeom prst="round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Saboteur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Blocks or delays. IT, procurement, legal, or status quo defender.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669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Who: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669280"/>
            <a:ext cx="2103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Title /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394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Motivation: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0" y="539496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Why they care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760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Objection: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5760720"/>
            <a:ext cx="438912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could stop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Beachhead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One specific market segment you plan to dominate first before expanding. Specific enough to build a target list of 50-100 companies by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Segment definition: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00584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e.g. Serbian banks with 200-1000 employees that had a phishing incident in the past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Why this segment first: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100584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Founder access, acute pain, short sales cycle, regulatory pressure, companies talk to each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Can you name 10 companies?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43400"/>
            <a:ext cx="100584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List them. If you cannot, the definition is too vague.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Adjacent segments for expansion: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40679"/>
            <a:ext cx="100584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What is the next niche after you win the beachhead?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AI Coaching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Copy and paste this prompt into ChatGPT or Claude along with your completed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4754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You are a startup coach helping me define my buyer and user personas. I am building a cybersecurity startup. Here are my draft personas:</a:t>
            </a:r>
            <a:br/>
            <a:br/>
            <a:r>
              <a:t>[PASTE YOUR COMPLETED SLIDES CONTENT HERE]</a:t>
            </a:r>
            <a:br/>
            <a:br/>
            <a:r>
              <a:t>Please coach me through these checks:</a:t>
            </a:r>
            <a:br/>
            <a:r>
              <a:t>1. For each persona, ask: "Have you spoken to someone matching this persona? How many?" If zero, flag it as fiction, not a persona.</a:t>
            </a:r>
            <a:br/>
            <a:r>
              <a:t>2. Check the trigger event. "They need better security" is not a trigger. A trigger is a specific event that creates urgency NOW.</a:t>
            </a:r>
            <a:br/>
            <a:r>
              <a:t>3. Is this an early customer or ideal customer persona? The person who tolerates your MVP is not the same person who needs three case studies.</a:t>
            </a:r>
            <a:br/>
            <a:r>
              <a:t>4. Check the buyer map. Is the saboteur identified? Who could block or slow this deal?</a:t>
            </a:r>
            <a:br/>
            <a:r>
              <a:t>5. Test the beachhead: can the founder name 10 specific companies? If not, the segment is too vague.</a:t>
            </a:r>
            <a:br/>
            <a:r>
              <a:t>6. For each field in each persona card, ask: "Is this from customer interviews, observed behaviour, or an assumption?"</a:t>
            </a:r>
            <a:br/>
            <a:r>
              <a:t>7. Rate the overall evidence: Strong, Moderate, Weak, or Assumption-Heavy.</a:t>
            </a:r>
            <a:br/>
            <a:r>
              <a:t>8. Name the single biggest assumption and suggest how to validate it in the next 2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