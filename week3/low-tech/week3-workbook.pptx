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0"/>
            <a:ext cx="10972800" cy="365760"/>
          </a:xfrm>
          <a:prstGeom prst="rect">
            <a:avLst/>
          </a:prstGeom>
          <a:noFill/>
        </p:spPr>
        <p:txBody>
          <a:bodyPr wrap="square">
            <a:spAutoFit/>
          </a:bodyPr>
          <a:lstStyle/>
          <a:p>
            <a:pPr algn="l"/>
            <a:r>
              <a:rPr sz="1100" b="1">
                <a:solidFill>
                  <a:srgbClr val="EA580D"/>
                </a:solidFill>
                <a:latin typeface="Calibri"/>
              </a:rPr>
              <a:t>HUB201 WEEK 3</a:t>
            </a:r>
          </a:p>
        </p:txBody>
      </p:sp>
      <p:sp>
        <p:nvSpPr>
          <p:cNvPr id="4" name="TextBox 3"/>
          <p:cNvSpPr txBox="1"/>
          <p:nvPr/>
        </p:nvSpPr>
        <p:spPr>
          <a:xfrm>
            <a:off x="457200" y="2103120"/>
            <a:ext cx="10515600" cy="1371600"/>
          </a:xfrm>
          <a:prstGeom prst="rect">
            <a:avLst/>
          </a:prstGeom>
          <a:noFill/>
        </p:spPr>
        <p:txBody>
          <a:bodyPr wrap="square">
            <a:spAutoFit/>
          </a:bodyPr>
          <a:lstStyle/>
          <a:p>
            <a:pPr algn="l"/>
            <a:r>
              <a:rPr sz="4000" b="1">
                <a:solidFill>
                  <a:srgbClr val="0F172A"/>
                </a:solidFill>
                <a:latin typeface="Calibri"/>
              </a:rPr>
              <a:t>Customer Discovery and ICP Workbook</a:t>
            </a:r>
          </a:p>
        </p:txBody>
      </p:sp>
      <p:sp>
        <p:nvSpPr>
          <p:cNvPr id="5" name="Rectangle 4"/>
          <p:cNvSpPr/>
          <p:nvPr/>
        </p:nvSpPr>
        <p:spPr>
          <a:xfrm>
            <a:off x="457200" y="3611880"/>
            <a:ext cx="2743200" cy="54864"/>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794760"/>
            <a:ext cx="10058400" cy="548640"/>
          </a:xfrm>
          <a:prstGeom prst="rect">
            <a:avLst/>
          </a:prstGeom>
          <a:noFill/>
        </p:spPr>
        <p:txBody>
          <a:bodyPr wrap="square">
            <a:spAutoFit/>
          </a:bodyPr>
          <a:lstStyle/>
          <a:p>
            <a:pPr algn="l"/>
            <a:r>
              <a:rPr sz="1600" b="0">
                <a:solidFill>
                  <a:srgbClr val="64748B"/>
                </a:solidFill>
                <a:latin typeface="Calibri"/>
              </a:rPr>
              <a:t>Low-tech workbook for teams working without an AI coach</a:t>
            </a:r>
          </a:p>
        </p:txBody>
      </p:sp>
      <p:sp>
        <p:nvSpPr>
          <p:cNvPr id="7" name="TextBox 6"/>
          <p:cNvSpPr txBox="1"/>
          <p:nvPr/>
        </p:nvSpPr>
        <p:spPr>
          <a:xfrm>
            <a:off x="457200" y="6217920"/>
            <a:ext cx="10972800" cy="365760"/>
          </a:xfrm>
          <a:prstGeom prst="rect">
            <a:avLst/>
          </a:prstGeom>
          <a:noFill/>
        </p:spPr>
        <p:txBody>
          <a:bodyPr wrap="square">
            <a:spAutoFit/>
          </a:bodyPr>
          <a:lstStyle/>
          <a:p>
            <a:pPr algn="l"/>
            <a:r>
              <a:rPr sz="1100" b="0">
                <a:solidFill>
                  <a:srgbClr val="64748B"/>
                </a:solidFill>
                <a:latin typeface="Calibri"/>
              </a:rPr>
              <a:t>Fill in by hand. Take your completed workbook into Week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HOW TO USE THIS WORKBOOK</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Before you begin</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1064240" cy="5029200"/>
          </a:xfrm>
          <a:prstGeom prst="rect">
            <a:avLst/>
          </a:prstGeom>
          <a:noFill/>
        </p:spPr>
        <p:txBody>
          <a:bodyPr wrap="square">
            <a:spAutoFit/>
          </a:bodyPr>
          <a:lstStyle/>
          <a:p>
            <a:pPr algn="l"/>
            <a:r>
              <a:rPr sz="1300" b="0">
                <a:solidFill>
                  <a:srgbClr val="0F172A"/>
                </a:solidFill>
                <a:latin typeface="Calibri"/>
              </a:rPr>
              <a:t>This workbook covers three exercises from Hub201 Week 3:
  Exercise 1 - Hypothesis mapping: define your PULL hypothesis and rank your top five assumptions by risk.
  Exercise 2 - Interview plan: design an interview script that surfaces the Five Signals, not yes/no answers.
  Exercise 3 - Contact list: build a credibility-first list of 25 target interviewees.
Each exercise has three parts:
  Context (what and why)  |  Template (fill in)  |  Assessment (review and next action)
Work through each template, then complete the assessment before moving on. Bring the finished workbook to Week 4 cohort review.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1 OF 3</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Hypothesis Mapping: what it is</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1064240" cy="5029200"/>
          </a:xfrm>
          <a:prstGeom prst="rect">
            <a:avLst/>
          </a:prstGeom>
          <a:noFill/>
        </p:spPr>
        <p:txBody>
          <a:bodyPr wrap="square">
            <a:spAutoFit/>
          </a:bodyPr>
          <a:lstStyle/>
          <a:p>
            <a:pPr algn="l"/>
            <a:r>
              <a:rPr sz="1300" b="0">
                <a:solidFill>
                  <a:srgbClr val="0F172A"/>
                </a:solidFill>
                <a:latin typeface="Calibri"/>
              </a:rPr>
              <a:t>Most early-stage teams work from product assumptions, not customer evidence. This exercise forces you to state what you believe before you go out and test it.
PULL Hypothesis format (one sentence per line):
  P - Who has BLOCKED demand? (the customer group)
  U - What is the project they are URGENTLY prioritising?
  L - What do existing options LACK? (specific gap, not vague)
  L - What LEADS them to look for a solution right now (trigger event)?
Your top five assumptions are the beliefs your whole business depends on. Rank them: if any one of these is wrong, what kills the model fastest?
Kill criteria: what evidence would prove an assumption false?
Validate criteria: what evidence would give you confidence to proceed?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1 - TEMPLATE</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Hypothesis Mapping: fill in</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10972800" cy="320040"/>
          </a:xfrm>
          <a:prstGeom prst="rect">
            <a:avLst/>
          </a:prstGeom>
          <a:noFill/>
        </p:spPr>
        <p:txBody>
          <a:bodyPr wrap="square">
            <a:spAutoFit/>
          </a:bodyPr>
          <a:lstStyle/>
          <a:p>
            <a:pPr algn="l"/>
            <a:r>
              <a:rPr sz="1100" b="1">
                <a:solidFill>
                  <a:srgbClr val="64748B"/>
                </a:solidFill>
                <a:latin typeface="Calibri"/>
              </a:rPr>
              <a:t>Your top 5 assumptions (rank 1 = highest risk)</a:t>
            </a:r>
          </a:p>
        </p:txBody>
      </p:sp>
      <p:sp>
        <p:nvSpPr>
          <p:cNvPr id="6" name="Rectangle 5"/>
          <p:cNvSpPr/>
          <p:nvPr/>
        </p:nvSpPr>
        <p:spPr>
          <a:xfrm>
            <a:off x="548640" y="1874519"/>
            <a:ext cx="365760" cy="411480"/>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29383"/>
            <a:ext cx="274320" cy="320040"/>
          </a:xfrm>
          <a:prstGeom prst="rect">
            <a:avLst/>
          </a:prstGeom>
          <a:noFill/>
        </p:spPr>
        <p:txBody>
          <a:bodyPr wrap="square">
            <a:spAutoFit/>
          </a:bodyPr>
          <a:lstStyle/>
          <a:p>
            <a:pPr algn="l"/>
            <a:r>
              <a:rPr sz="1000" b="1">
                <a:solidFill>
                  <a:srgbClr val="0F172A"/>
                </a:solidFill>
                <a:latin typeface="Calibri"/>
              </a:rPr>
              <a:t>#</a:t>
            </a:r>
          </a:p>
        </p:txBody>
      </p:sp>
      <p:sp>
        <p:nvSpPr>
          <p:cNvPr id="8" name="Rectangle 7"/>
          <p:cNvSpPr/>
          <p:nvPr/>
        </p:nvSpPr>
        <p:spPr>
          <a:xfrm>
            <a:off x="960120" y="1874519"/>
            <a:ext cx="4023360" cy="411480"/>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29383"/>
            <a:ext cx="3931920" cy="320040"/>
          </a:xfrm>
          <a:prstGeom prst="rect">
            <a:avLst/>
          </a:prstGeom>
          <a:noFill/>
        </p:spPr>
        <p:txBody>
          <a:bodyPr wrap="square">
            <a:spAutoFit/>
          </a:bodyPr>
          <a:lstStyle/>
          <a:p>
            <a:pPr algn="l"/>
            <a:r>
              <a:rPr sz="1000" b="1">
                <a:solidFill>
                  <a:srgbClr val="0F172A"/>
                </a:solidFill>
                <a:latin typeface="Calibri"/>
              </a:rPr>
              <a:t>Assumption (what you believe)</a:t>
            </a:r>
          </a:p>
        </p:txBody>
      </p:sp>
      <p:sp>
        <p:nvSpPr>
          <p:cNvPr id="10" name="Rectangle 9"/>
          <p:cNvSpPr/>
          <p:nvPr/>
        </p:nvSpPr>
        <p:spPr>
          <a:xfrm>
            <a:off x="5029200" y="1874519"/>
            <a:ext cx="3108960" cy="411480"/>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0" y="1929383"/>
            <a:ext cx="3017520" cy="320040"/>
          </a:xfrm>
          <a:prstGeom prst="rect">
            <a:avLst/>
          </a:prstGeom>
          <a:noFill/>
        </p:spPr>
        <p:txBody>
          <a:bodyPr wrap="square">
            <a:spAutoFit/>
          </a:bodyPr>
          <a:lstStyle/>
          <a:p>
            <a:pPr algn="l"/>
            <a:r>
              <a:rPr sz="1000" b="1">
                <a:solidFill>
                  <a:srgbClr val="0F172A"/>
                </a:solidFill>
                <a:latin typeface="Calibri"/>
              </a:rPr>
              <a:t>Kill criteria</a:t>
            </a:r>
          </a:p>
        </p:txBody>
      </p:sp>
      <p:sp>
        <p:nvSpPr>
          <p:cNvPr id="12" name="Rectangle 11"/>
          <p:cNvSpPr/>
          <p:nvPr/>
        </p:nvSpPr>
        <p:spPr>
          <a:xfrm>
            <a:off x="8183879" y="1874519"/>
            <a:ext cx="3108960" cy="411480"/>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9" y="1929383"/>
            <a:ext cx="3017520" cy="320040"/>
          </a:xfrm>
          <a:prstGeom prst="rect">
            <a:avLst/>
          </a:prstGeom>
          <a:noFill/>
        </p:spPr>
        <p:txBody>
          <a:bodyPr wrap="square">
            <a:spAutoFit/>
          </a:bodyPr>
          <a:lstStyle/>
          <a:p>
            <a:pPr algn="l"/>
            <a:r>
              <a:rPr sz="1000" b="1">
                <a:solidFill>
                  <a:srgbClr val="0F172A"/>
                </a:solidFill>
                <a:latin typeface="Calibri"/>
              </a:rPr>
              <a:t>Validate criteria</a:t>
            </a:r>
          </a:p>
        </p:txBody>
      </p:sp>
      <p:sp>
        <p:nvSpPr>
          <p:cNvPr id="14" name="Rectangle 13"/>
          <p:cNvSpPr/>
          <p:nvPr/>
        </p:nvSpPr>
        <p:spPr>
          <a:xfrm>
            <a:off x="548640" y="2285999"/>
            <a:ext cx="3657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2377439"/>
            <a:ext cx="228600" cy="320040"/>
          </a:xfrm>
          <a:prstGeom prst="rect">
            <a:avLst/>
          </a:prstGeom>
          <a:noFill/>
        </p:spPr>
        <p:txBody>
          <a:bodyPr wrap="square">
            <a:spAutoFit/>
          </a:bodyPr>
          <a:lstStyle/>
          <a:p>
            <a:pPr algn="l"/>
            <a:r>
              <a:rPr sz="1100" b="1">
                <a:solidFill>
                  <a:srgbClr val="64748B"/>
                </a:solidFill>
                <a:latin typeface="Calibri"/>
              </a:rPr>
              <a:t>1</a:t>
            </a:r>
          </a:p>
        </p:txBody>
      </p:sp>
      <p:sp>
        <p:nvSpPr>
          <p:cNvPr id="16" name="Rectangle 15"/>
          <p:cNvSpPr/>
          <p:nvPr/>
        </p:nvSpPr>
        <p:spPr>
          <a:xfrm>
            <a:off x="960120" y="2285999"/>
            <a:ext cx="40233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0" y="228599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228599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697479"/>
            <a:ext cx="3657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2788919"/>
            <a:ext cx="228600" cy="320040"/>
          </a:xfrm>
          <a:prstGeom prst="rect">
            <a:avLst/>
          </a:prstGeom>
          <a:noFill/>
        </p:spPr>
        <p:txBody>
          <a:bodyPr wrap="square">
            <a:spAutoFit/>
          </a:bodyPr>
          <a:lstStyle/>
          <a:p>
            <a:pPr algn="l"/>
            <a:r>
              <a:rPr sz="1100" b="1">
                <a:solidFill>
                  <a:srgbClr val="64748B"/>
                </a:solidFill>
                <a:latin typeface="Calibri"/>
              </a:rPr>
              <a:t>2</a:t>
            </a:r>
          </a:p>
        </p:txBody>
      </p:sp>
      <p:sp>
        <p:nvSpPr>
          <p:cNvPr id="21" name="Rectangle 20"/>
          <p:cNvSpPr/>
          <p:nvPr/>
        </p:nvSpPr>
        <p:spPr>
          <a:xfrm>
            <a:off x="960120" y="2697479"/>
            <a:ext cx="40233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0" y="269747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83879" y="269747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108959"/>
            <a:ext cx="3657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3200399"/>
            <a:ext cx="228600" cy="320040"/>
          </a:xfrm>
          <a:prstGeom prst="rect">
            <a:avLst/>
          </a:prstGeom>
          <a:noFill/>
        </p:spPr>
        <p:txBody>
          <a:bodyPr wrap="square">
            <a:spAutoFit/>
          </a:bodyPr>
          <a:lstStyle/>
          <a:p>
            <a:pPr algn="l"/>
            <a:r>
              <a:rPr sz="1100" b="1">
                <a:solidFill>
                  <a:srgbClr val="64748B"/>
                </a:solidFill>
                <a:latin typeface="Calibri"/>
              </a:rPr>
              <a:t>3</a:t>
            </a:r>
          </a:p>
        </p:txBody>
      </p:sp>
      <p:sp>
        <p:nvSpPr>
          <p:cNvPr id="26" name="Rectangle 25"/>
          <p:cNvSpPr/>
          <p:nvPr/>
        </p:nvSpPr>
        <p:spPr>
          <a:xfrm>
            <a:off x="960120" y="3108959"/>
            <a:ext cx="40233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0" y="310895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79" y="310895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520439"/>
            <a:ext cx="3657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3611879"/>
            <a:ext cx="228600" cy="320040"/>
          </a:xfrm>
          <a:prstGeom prst="rect">
            <a:avLst/>
          </a:prstGeom>
          <a:noFill/>
        </p:spPr>
        <p:txBody>
          <a:bodyPr wrap="square">
            <a:spAutoFit/>
          </a:bodyPr>
          <a:lstStyle/>
          <a:p>
            <a:pPr algn="l"/>
            <a:r>
              <a:rPr sz="1100" b="1">
                <a:solidFill>
                  <a:srgbClr val="64748B"/>
                </a:solidFill>
                <a:latin typeface="Calibri"/>
              </a:rPr>
              <a:t>4</a:t>
            </a:r>
          </a:p>
        </p:txBody>
      </p:sp>
      <p:sp>
        <p:nvSpPr>
          <p:cNvPr id="31" name="Rectangle 30"/>
          <p:cNvSpPr/>
          <p:nvPr/>
        </p:nvSpPr>
        <p:spPr>
          <a:xfrm>
            <a:off x="960120" y="3520439"/>
            <a:ext cx="40233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0" y="352043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83879" y="352043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3931919"/>
            <a:ext cx="3657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4023359"/>
            <a:ext cx="228600" cy="320040"/>
          </a:xfrm>
          <a:prstGeom prst="rect">
            <a:avLst/>
          </a:prstGeom>
          <a:noFill/>
        </p:spPr>
        <p:txBody>
          <a:bodyPr wrap="square">
            <a:spAutoFit/>
          </a:bodyPr>
          <a:lstStyle/>
          <a:p>
            <a:pPr algn="l"/>
            <a:r>
              <a:rPr sz="1100" b="1">
                <a:solidFill>
                  <a:srgbClr val="64748B"/>
                </a:solidFill>
                <a:latin typeface="Calibri"/>
              </a:rPr>
              <a:t>5</a:t>
            </a:r>
          </a:p>
        </p:txBody>
      </p:sp>
      <p:sp>
        <p:nvSpPr>
          <p:cNvPr id="36" name="Rectangle 35"/>
          <p:cNvSpPr/>
          <p:nvPr/>
        </p:nvSpPr>
        <p:spPr>
          <a:xfrm>
            <a:off x="960120" y="3931919"/>
            <a:ext cx="40233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0" y="393191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83879" y="3931919"/>
            <a:ext cx="3108960" cy="4114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160520"/>
            <a:ext cx="10972800" cy="320040"/>
          </a:xfrm>
          <a:prstGeom prst="rect">
            <a:avLst/>
          </a:prstGeom>
          <a:noFill/>
        </p:spPr>
        <p:txBody>
          <a:bodyPr wrap="square">
            <a:spAutoFit/>
          </a:bodyPr>
          <a:lstStyle/>
          <a:p>
            <a:pPr algn="l"/>
            <a:r>
              <a:rPr sz="1100" b="1">
                <a:solidFill>
                  <a:srgbClr val="64748B"/>
                </a:solidFill>
                <a:latin typeface="Calibri"/>
              </a:rPr>
              <a:t>PULL Hypothesis (complete each line)</a:t>
            </a:r>
          </a:p>
        </p:txBody>
      </p:sp>
      <p:sp>
        <p:nvSpPr>
          <p:cNvPr id="40" name="TextBox 39"/>
          <p:cNvSpPr txBox="1"/>
          <p:nvPr/>
        </p:nvSpPr>
        <p:spPr>
          <a:xfrm>
            <a:off x="548640" y="4507992"/>
            <a:ext cx="2926080" cy="384048"/>
          </a:xfrm>
          <a:prstGeom prst="rect">
            <a:avLst/>
          </a:prstGeom>
          <a:noFill/>
        </p:spPr>
        <p:txBody>
          <a:bodyPr wrap="square">
            <a:spAutoFit/>
          </a:bodyPr>
          <a:lstStyle/>
          <a:p>
            <a:pPr algn="l"/>
            <a:r>
              <a:rPr sz="1100" b="0">
                <a:solidFill>
                  <a:srgbClr val="64748B"/>
                </a:solidFill>
                <a:latin typeface="Calibri"/>
              </a:rPr>
              <a:t>P  Who has blocked demand:</a:t>
            </a:r>
          </a:p>
        </p:txBody>
      </p:sp>
      <p:sp>
        <p:nvSpPr>
          <p:cNvPr id="41" name="Rectangle 40"/>
          <p:cNvSpPr/>
          <p:nvPr/>
        </p:nvSpPr>
        <p:spPr>
          <a:xfrm>
            <a:off x="3520440" y="4764024"/>
            <a:ext cx="8321040" cy="18288"/>
          </a:xfrm>
          <a:prstGeom prst="rect">
            <a:avLst/>
          </a:prstGeom>
          <a:solidFill>
            <a:srgbClr val="E4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983480"/>
            <a:ext cx="2926080" cy="384048"/>
          </a:xfrm>
          <a:prstGeom prst="rect">
            <a:avLst/>
          </a:prstGeom>
          <a:noFill/>
        </p:spPr>
        <p:txBody>
          <a:bodyPr wrap="square">
            <a:spAutoFit/>
          </a:bodyPr>
          <a:lstStyle/>
          <a:p>
            <a:pPr algn="l"/>
            <a:r>
              <a:rPr sz="1100" b="0">
                <a:solidFill>
                  <a:srgbClr val="64748B"/>
                </a:solidFill>
                <a:latin typeface="Calibri"/>
              </a:rPr>
              <a:t>U  What project are they prioritising:</a:t>
            </a:r>
          </a:p>
        </p:txBody>
      </p:sp>
      <p:sp>
        <p:nvSpPr>
          <p:cNvPr id="43" name="Rectangle 42"/>
          <p:cNvSpPr/>
          <p:nvPr/>
        </p:nvSpPr>
        <p:spPr>
          <a:xfrm>
            <a:off x="3520440" y="5239512"/>
            <a:ext cx="8321040" cy="18288"/>
          </a:xfrm>
          <a:prstGeom prst="rect">
            <a:avLst/>
          </a:prstGeom>
          <a:solidFill>
            <a:srgbClr val="E4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458968"/>
            <a:ext cx="2926080" cy="384048"/>
          </a:xfrm>
          <a:prstGeom prst="rect">
            <a:avLst/>
          </a:prstGeom>
          <a:noFill/>
        </p:spPr>
        <p:txBody>
          <a:bodyPr wrap="square">
            <a:spAutoFit/>
          </a:bodyPr>
          <a:lstStyle/>
          <a:p>
            <a:pPr algn="l"/>
            <a:r>
              <a:rPr sz="1100" b="0">
                <a:solidFill>
                  <a:srgbClr val="64748B"/>
                </a:solidFill>
                <a:latin typeface="Calibri"/>
              </a:rPr>
              <a:t>L  What do existing options lack:</a:t>
            </a:r>
          </a:p>
        </p:txBody>
      </p:sp>
      <p:sp>
        <p:nvSpPr>
          <p:cNvPr id="45" name="Rectangle 44"/>
          <p:cNvSpPr/>
          <p:nvPr/>
        </p:nvSpPr>
        <p:spPr>
          <a:xfrm>
            <a:off x="3520440" y="5715000"/>
            <a:ext cx="8321040" cy="18288"/>
          </a:xfrm>
          <a:prstGeom prst="rect">
            <a:avLst/>
          </a:prstGeom>
          <a:solidFill>
            <a:srgbClr val="E4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5934456"/>
            <a:ext cx="2926080" cy="384048"/>
          </a:xfrm>
          <a:prstGeom prst="rect">
            <a:avLst/>
          </a:prstGeom>
          <a:noFill/>
        </p:spPr>
        <p:txBody>
          <a:bodyPr wrap="square">
            <a:spAutoFit/>
          </a:bodyPr>
          <a:lstStyle/>
          <a:p>
            <a:pPr algn="l"/>
            <a:r>
              <a:rPr sz="1100" b="0">
                <a:solidFill>
                  <a:srgbClr val="64748B"/>
                </a:solidFill>
                <a:latin typeface="Calibri"/>
              </a:rPr>
              <a:t>L  What trigger event leads them to act:</a:t>
            </a:r>
          </a:p>
        </p:txBody>
      </p:sp>
      <p:sp>
        <p:nvSpPr>
          <p:cNvPr id="47" name="Rectangle 46"/>
          <p:cNvSpPr/>
          <p:nvPr/>
        </p:nvSpPr>
        <p:spPr>
          <a:xfrm>
            <a:off x="3520440" y="6190488"/>
            <a:ext cx="8321040" cy="18288"/>
          </a:xfrm>
          <a:prstGeom prst="rect">
            <a:avLst/>
          </a:prstGeom>
          <a:solidFill>
            <a:srgbClr val="E4E4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1 - ASSESSMENT</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Hypothesis Mapping: self-review</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0972800" cy="320040"/>
          </a:xfrm>
          <a:prstGeom prst="rect">
            <a:avLst/>
          </a:prstGeom>
          <a:noFill/>
        </p:spPr>
        <p:txBody>
          <a:bodyPr wrap="square">
            <a:spAutoFit/>
          </a:bodyPr>
          <a:lstStyle/>
          <a:p>
            <a:pPr algn="l"/>
            <a:r>
              <a:rPr sz="1100" b="1">
                <a:solidFill>
                  <a:srgbClr val="64748B"/>
                </a:solidFill>
                <a:latin typeface="Calibri"/>
              </a:rPr>
              <a:t>Evidence rating for each assumption (circle one per row)</a:t>
            </a:r>
          </a:p>
        </p:txBody>
      </p:sp>
      <p:sp>
        <p:nvSpPr>
          <p:cNvPr id="6" name="TextBox 5"/>
          <p:cNvSpPr txBox="1"/>
          <p:nvPr/>
        </p:nvSpPr>
        <p:spPr>
          <a:xfrm>
            <a:off x="548640" y="1920240"/>
            <a:ext cx="457200" cy="384048"/>
          </a:xfrm>
          <a:prstGeom prst="rect">
            <a:avLst/>
          </a:prstGeom>
          <a:noFill/>
        </p:spPr>
        <p:txBody>
          <a:bodyPr wrap="square">
            <a:spAutoFit/>
          </a:bodyPr>
          <a:lstStyle/>
          <a:p>
            <a:pPr algn="l"/>
            <a:r>
              <a:rPr sz="1000" b="1">
                <a:solidFill>
                  <a:srgbClr val="0F172A"/>
                </a:solidFill>
                <a:latin typeface="Calibri"/>
              </a:rPr>
              <a:t>#</a:t>
            </a:r>
          </a:p>
        </p:txBody>
      </p:sp>
      <p:sp>
        <p:nvSpPr>
          <p:cNvPr id="7" name="TextBox 6"/>
          <p:cNvSpPr txBox="1"/>
          <p:nvPr/>
        </p:nvSpPr>
        <p:spPr>
          <a:xfrm>
            <a:off x="1097280" y="1920240"/>
            <a:ext cx="2286000" cy="384048"/>
          </a:xfrm>
          <a:prstGeom prst="rect">
            <a:avLst/>
          </a:prstGeom>
          <a:noFill/>
        </p:spPr>
        <p:txBody>
          <a:bodyPr wrap="square">
            <a:spAutoFit/>
          </a:bodyPr>
          <a:lstStyle/>
          <a:p>
            <a:pPr algn="l"/>
            <a:r>
              <a:rPr sz="1000" b="1">
                <a:solidFill>
                  <a:srgbClr val="16A34A"/>
                </a:solidFill>
                <a:latin typeface="Calibri"/>
              </a:rPr>
              <a:t>Strong evidence</a:t>
            </a:r>
          </a:p>
        </p:txBody>
      </p:sp>
      <p:sp>
        <p:nvSpPr>
          <p:cNvPr id="8" name="TextBox 7"/>
          <p:cNvSpPr txBox="1"/>
          <p:nvPr/>
        </p:nvSpPr>
        <p:spPr>
          <a:xfrm>
            <a:off x="3566160" y="1920240"/>
            <a:ext cx="2286000" cy="384048"/>
          </a:xfrm>
          <a:prstGeom prst="rect">
            <a:avLst/>
          </a:prstGeom>
          <a:noFill/>
        </p:spPr>
        <p:txBody>
          <a:bodyPr wrap="square">
            <a:spAutoFit/>
          </a:bodyPr>
          <a:lstStyle/>
          <a:p>
            <a:pPr algn="l"/>
            <a:r>
              <a:rPr sz="1000" b="1">
                <a:solidFill>
                  <a:srgbClr val="CA8A04"/>
                </a:solidFill>
                <a:latin typeface="Calibri"/>
              </a:rPr>
              <a:t>Moderate evidence</a:t>
            </a:r>
          </a:p>
        </p:txBody>
      </p:sp>
      <p:sp>
        <p:nvSpPr>
          <p:cNvPr id="9" name="TextBox 8"/>
          <p:cNvSpPr txBox="1"/>
          <p:nvPr/>
        </p:nvSpPr>
        <p:spPr>
          <a:xfrm>
            <a:off x="6035040" y="1920240"/>
            <a:ext cx="2286000" cy="384048"/>
          </a:xfrm>
          <a:prstGeom prst="rect">
            <a:avLst/>
          </a:prstGeom>
          <a:noFill/>
        </p:spPr>
        <p:txBody>
          <a:bodyPr wrap="square">
            <a:spAutoFit/>
          </a:bodyPr>
          <a:lstStyle/>
          <a:p>
            <a:pPr algn="l"/>
            <a:r>
              <a:rPr sz="1000" b="1">
                <a:solidFill>
                  <a:srgbClr val="EA580D"/>
                </a:solidFill>
                <a:latin typeface="Calibri"/>
              </a:rPr>
              <a:t>Weak evidence</a:t>
            </a:r>
          </a:p>
        </p:txBody>
      </p:sp>
      <p:sp>
        <p:nvSpPr>
          <p:cNvPr id="10" name="TextBox 9"/>
          <p:cNvSpPr txBox="1"/>
          <p:nvPr/>
        </p:nvSpPr>
        <p:spPr>
          <a:xfrm>
            <a:off x="8503920" y="1920240"/>
            <a:ext cx="2286000" cy="384048"/>
          </a:xfrm>
          <a:prstGeom prst="rect">
            <a:avLst/>
          </a:prstGeom>
          <a:noFill/>
        </p:spPr>
        <p:txBody>
          <a:bodyPr wrap="square">
            <a:spAutoFit/>
          </a:bodyPr>
          <a:lstStyle/>
          <a:p>
            <a:pPr algn="l"/>
            <a:r>
              <a:rPr sz="1000" b="1">
                <a:solidFill>
                  <a:srgbClr val="DC2626"/>
                </a:solidFill>
                <a:latin typeface="Calibri"/>
              </a:rPr>
              <a:t>Pure assumption</a:t>
            </a:r>
          </a:p>
        </p:txBody>
      </p:sp>
      <p:sp>
        <p:nvSpPr>
          <p:cNvPr id="11" name="Rectangle 10"/>
          <p:cNvSpPr/>
          <p:nvPr/>
        </p:nvSpPr>
        <p:spPr>
          <a:xfrm>
            <a:off x="548640" y="2304288"/>
            <a:ext cx="457200" cy="384048"/>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377440"/>
            <a:ext cx="320040" cy="292608"/>
          </a:xfrm>
          <a:prstGeom prst="rect">
            <a:avLst/>
          </a:prstGeom>
          <a:noFill/>
        </p:spPr>
        <p:txBody>
          <a:bodyPr wrap="square">
            <a:spAutoFit/>
          </a:bodyPr>
          <a:lstStyle/>
          <a:p>
            <a:pPr algn="l"/>
            <a:r>
              <a:rPr sz="1100" b="1">
                <a:solidFill>
                  <a:srgbClr val="64748B"/>
                </a:solidFill>
                <a:latin typeface="Calibri"/>
              </a:rPr>
              <a:t>1</a:t>
            </a:r>
          </a:p>
        </p:txBody>
      </p:sp>
      <p:sp>
        <p:nvSpPr>
          <p:cNvPr id="13" name="Rectangle 12"/>
          <p:cNvSpPr/>
          <p:nvPr/>
        </p:nvSpPr>
        <p:spPr>
          <a:xfrm>
            <a:off x="1097280" y="2304288"/>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2304288"/>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2304288"/>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2304288"/>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688336"/>
            <a:ext cx="457200" cy="384048"/>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761488"/>
            <a:ext cx="320040" cy="292608"/>
          </a:xfrm>
          <a:prstGeom prst="rect">
            <a:avLst/>
          </a:prstGeom>
          <a:noFill/>
        </p:spPr>
        <p:txBody>
          <a:bodyPr wrap="square">
            <a:spAutoFit/>
          </a:bodyPr>
          <a:lstStyle/>
          <a:p>
            <a:pPr algn="l"/>
            <a:r>
              <a:rPr sz="1100" b="1">
                <a:solidFill>
                  <a:srgbClr val="64748B"/>
                </a:solidFill>
                <a:latin typeface="Calibri"/>
              </a:rPr>
              <a:t>2</a:t>
            </a:r>
          </a:p>
        </p:txBody>
      </p:sp>
      <p:sp>
        <p:nvSpPr>
          <p:cNvPr id="19" name="Rectangle 18"/>
          <p:cNvSpPr/>
          <p:nvPr/>
        </p:nvSpPr>
        <p:spPr>
          <a:xfrm>
            <a:off x="1097280" y="2688336"/>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66160" y="2688336"/>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35040" y="2688336"/>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03920" y="2688336"/>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072384"/>
            <a:ext cx="457200" cy="384048"/>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145536"/>
            <a:ext cx="320040" cy="292608"/>
          </a:xfrm>
          <a:prstGeom prst="rect">
            <a:avLst/>
          </a:prstGeom>
          <a:noFill/>
        </p:spPr>
        <p:txBody>
          <a:bodyPr wrap="square">
            <a:spAutoFit/>
          </a:bodyPr>
          <a:lstStyle/>
          <a:p>
            <a:pPr algn="l"/>
            <a:r>
              <a:rPr sz="1100" b="1">
                <a:solidFill>
                  <a:srgbClr val="64748B"/>
                </a:solidFill>
                <a:latin typeface="Calibri"/>
              </a:rPr>
              <a:t>3</a:t>
            </a:r>
          </a:p>
        </p:txBody>
      </p:sp>
      <p:sp>
        <p:nvSpPr>
          <p:cNvPr id="25" name="Rectangle 24"/>
          <p:cNvSpPr/>
          <p:nvPr/>
        </p:nvSpPr>
        <p:spPr>
          <a:xfrm>
            <a:off x="1097280" y="3072384"/>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66160" y="3072384"/>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35040" y="3072384"/>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503920" y="3072384"/>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456432"/>
            <a:ext cx="457200" cy="384048"/>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529584"/>
            <a:ext cx="320040" cy="292608"/>
          </a:xfrm>
          <a:prstGeom prst="rect">
            <a:avLst/>
          </a:prstGeom>
          <a:noFill/>
        </p:spPr>
        <p:txBody>
          <a:bodyPr wrap="square">
            <a:spAutoFit/>
          </a:bodyPr>
          <a:lstStyle/>
          <a:p>
            <a:pPr algn="l"/>
            <a:r>
              <a:rPr sz="1100" b="1">
                <a:solidFill>
                  <a:srgbClr val="64748B"/>
                </a:solidFill>
                <a:latin typeface="Calibri"/>
              </a:rPr>
              <a:t>4</a:t>
            </a:r>
          </a:p>
        </p:txBody>
      </p:sp>
      <p:sp>
        <p:nvSpPr>
          <p:cNvPr id="31" name="Rectangle 30"/>
          <p:cNvSpPr/>
          <p:nvPr/>
        </p:nvSpPr>
        <p:spPr>
          <a:xfrm>
            <a:off x="1097280" y="3456432"/>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66160" y="3456432"/>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35040" y="3456432"/>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503920" y="3456432"/>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3840480"/>
            <a:ext cx="457200" cy="384048"/>
          </a:xfrm>
          <a:prstGeom prst="rect">
            <a:avLst/>
          </a:prstGeom>
          <a:solidFill>
            <a:srgbClr val="F4F4F5"/>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3913632"/>
            <a:ext cx="320040" cy="292608"/>
          </a:xfrm>
          <a:prstGeom prst="rect">
            <a:avLst/>
          </a:prstGeom>
          <a:noFill/>
        </p:spPr>
        <p:txBody>
          <a:bodyPr wrap="square">
            <a:spAutoFit/>
          </a:bodyPr>
          <a:lstStyle/>
          <a:p>
            <a:pPr algn="l"/>
            <a:r>
              <a:rPr sz="1100" b="1">
                <a:solidFill>
                  <a:srgbClr val="64748B"/>
                </a:solidFill>
                <a:latin typeface="Calibri"/>
              </a:rPr>
              <a:t>5</a:t>
            </a:r>
          </a:p>
        </p:txBody>
      </p:sp>
      <p:sp>
        <p:nvSpPr>
          <p:cNvPr id="37" name="Rectangle 36"/>
          <p:cNvSpPr/>
          <p:nvPr/>
        </p:nvSpPr>
        <p:spPr>
          <a:xfrm>
            <a:off x="1097280" y="3840480"/>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566160" y="3840480"/>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35040" y="3840480"/>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503920" y="3840480"/>
            <a:ext cx="2286000" cy="384048"/>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160520"/>
            <a:ext cx="5303520" cy="320040"/>
          </a:xfrm>
          <a:prstGeom prst="rect">
            <a:avLst/>
          </a:prstGeom>
          <a:noFill/>
        </p:spPr>
        <p:txBody>
          <a:bodyPr wrap="square">
            <a:spAutoFit/>
          </a:bodyPr>
          <a:lstStyle/>
          <a:p>
            <a:pPr algn="l"/>
            <a:r>
              <a:rPr sz="1100" b="1">
                <a:solidFill>
                  <a:srgbClr val="64748B"/>
                </a:solidFill>
                <a:latin typeface="Calibri"/>
              </a:rPr>
              <a:t>Biggest risk (assumption most likely to kill the model):</a:t>
            </a:r>
          </a:p>
        </p:txBody>
      </p:sp>
      <p:sp>
        <p:nvSpPr>
          <p:cNvPr id="42" name="Rectangle 41"/>
          <p:cNvSpPr/>
          <p:nvPr/>
        </p:nvSpPr>
        <p:spPr>
          <a:xfrm>
            <a:off x="548640" y="4526280"/>
            <a:ext cx="5120640" cy="6400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4160520"/>
            <a:ext cx="5303520" cy="320040"/>
          </a:xfrm>
          <a:prstGeom prst="rect">
            <a:avLst/>
          </a:prstGeom>
          <a:noFill/>
        </p:spPr>
        <p:txBody>
          <a:bodyPr wrap="square">
            <a:spAutoFit/>
          </a:bodyPr>
          <a:lstStyle/>
          <a:p>
            <a:pPr algn="l"/>
            <a:r>
              <a:rPr sz="1100" b="1">
                <a:solidFill>
                  <a:srgbClr val="64748B"/>
                </a:solidFill>
                <a:latin typeface="Calibri"/>
              </a:rPr>
              <a:t>Next action (what you will do before next week):</a:t>
            </a:r>
          </a:p>
        </p:txBody>
      </p:sp>
      <p:sp>
        <p:nvSpPr>
          <p:cNvPr id="44" name="Rectangle 43"/>
          <p:cNvSpPr/>
          <p:nvPr/>
        </p:nvSpPr>
        <p:spPr>
          <a:xfrm>
            <a:off x="6492240" y="4526280"/>
            <a:ext cx="5120640" cy="64008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2 OF 3</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Interview Plan: what it is</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1064240" cy="5029200"/>
          </a:xfrm>
          <a:prstGeom prst="rect">
            <a:avLst/>
          </a:prstGeom>
          <a:noFill/>
        </p:spPr>
        <p:txBody>
          <a:bodyPr wrap="square">
            <a:spAutoFit/>
          </a:bodyPr>
          <a:lstStyle/>
          <a:p>
            <a:pPr algn="l"/>
            <a:r>
              <a:rPr sz="1200" b="0">
                <a:solidFill>
                  <a:srgbClr val="0F172A"/>
                </a:solidFill>
                <a:latin typeface="Calibri"/>
              </a:rPr>
              <a:t>A bad interview gets validation. A good interview gets evidence. The difference is whether you ask about the future or the past.
The Open Question Rule: use why, what, how. Never ask do, would, could, should. Future-oriented questions invite polite agreement. Past-behaviour questions surface real decisions.
The Five Signals you are listening for:
  1. Recency and frequency - when did this last happen, how often?
  2. Concrete behaviour - what exactly did they do, not plan to do?
  3. Time and money spent - how much did they invest in solving it?
  4. Problem-area match - is the pain in the domain you are targeting?
  5. Awareness level - do they know they have this problem, or do they call it something else?
Your script should cover all five signals. Each section below gives you blank slots. Tag each question with the signal it is designed to surface.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2 - TEMPLATE</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Interview Script: fill in</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508760"/>
            <a:ext cx="2103120" cy="274320"/>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27048"/>
            <a:ext cx="2011680" cy="256032"/>
          </a:xfrm>
          <a:prstGeom prst="rect">
            <a:avLst/>
          </a:prstGeom>
          <a:noFill/>
        </p:spPr>
        <p:txBody>
          <a:bodyPr wrap="square">
            <a:spAutoFit/>
          </a:bodyPr>
          <a:lstStyle/>
          <a:p>
            <a:pPr algn="l"/>
            <a:r>
              <a:rPr sz="900" b="1">
                <a:solidFill>
                  <a:srgbClr val="FFFFFF"/>
                </a:solidFill>
                <a:latin typeface="Calibri"/>
              </a:rPr>
              <a:t>INTRO (3 slots)</a:t>
            </a:r>
          </a:p>
        </p:txBody>
      </p:sp>
      <p:sp>
        <p:nvSpPr>
          <p:cNvPr id="7" name="Rectangle 6"/>
          <p:cNvSpPr/>
          <p:nvPr/>
        </p:nvSpPr>
        <p:spPr>
          <a:xfrm>
            <a:off x="320040" y="180136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4" y="1837944"/>
            <a:ext cx="1993392" cy="201168"/>
          </a:xfrm>
          <a:prstGeom prst="rect">
            <a:avLst/>
          </a:prstGeom>
          <a:noFill/>
        </p:spPr>
        <p:txBody>
          <a:bodyPr wrap="square">
            <a:spAutoFit/>
          </a:bodyPr>
          <a:lstStyle/>
          <a:p>
            <a:pPr algn="l"/>
            <a:r>
              <a:rPr sz="900" b="1">
                <a:solidFill>
                  <a:srgbClr val="EA580D"/>
                </a:solidFill>
                <a:latin typeface="Calibri"/>
              </a:rPr>
              <a:t>Q1:</a:t>
            </a:r>
          </a:p>
        </p:txBody>
      </p:sp>
      <p:sp>
        <p:nvSpPr>
          <p:cNvPr id="9" name="TextBox 8"/>
          <p:cNvSpPr txBox="1"/>
          <p:nvPr/>
        </p:nvSpPr>
        <p:spPr>
          <a:xfrm>
            <a:off x="374904" y="237744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10" name="Rectangle 9"/>
          <p:cNvSpPr/>
          <p:nvPr/>
        </p:nvSpPr>
        <p:spPr>
          <a:xfrm>
            <a:off x="320040" y="267004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 y="2706624"/>
            <a:ext cx="1993392" cy="201168"/>
          </a:xfrm>
          <a:prstGeom prst="rect">
            <a:avLst/>
          </a:prstGeom>
          <a:noFill/>
        </p:spPr>
        <p:txBody>
          <a:bodyPr wrap="square">
            <a:spAutoFit/>
          </a:bodyPr>
          <a:lstStyle/>
          <a:p>
            <a:pPr algn="l"/>
            <a:r>
              <a:rPr sz="900" b="1">
                <a:solidFill>
                  <a:srgbClr val="EA580D"/>
                </a:solidFill>
                <a:latin typeface="Calibri"/>
              </a:rPr>
              <a:t>Q2:</a:t>
            </a:r>
          </a:p>
        </p:txBody>
      </p:sp>
      <p:sp>
        <p:nvSpPr>
          <p:cNvPr id="12" name="TextBox 11"/>
          <p:cNvSpPr txBox="1"/>
          <p:nvPr/>
        </p:nvSpPr>
        <p:spPr>
          <a:xfrm>
            <a:off x="374904" y="324612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13" name="Rectangle 12"/>
          <p:cNvSpPr/>
          <p:nvPr/>
        </p:nvSpPr>
        <p:spPr>
          <a:xfrm>
            <a:off x="320040" y="353872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3575304"/>
            <a:ext cx="1993392" cy="201168"/>
          </a:xfrm>
          <a:prstGeom prst="rect">
            <a:avLst/>
          </a:prstGeom>
          <a:noFill/>
        </p:spPr>
        <p:txBody>
          <a:bodyPr wrap="square">
            <a:spAutoFit/>
          </a:bodyPr>
          <a:lstStyle/>
          <a:p>
            <a:pPr algn="l"/>
            <a:r>
              <a:rPr sz="900" b="1">
                <a:solidFill>
                  <a:srgbClr val="EA580D"/>
                </a:solidFill>
                <a:latin typeface="Calibri"/>
              </a:rPr>
              <a:t>Q3:</a:t>
            </a:r>
          </a:p>
        </p:txBody>
      </p:sp>
      <p:sp>
        <p:nvSpPr>
          <p:cNvPr id="15" name="TextBox 14"/>
          <p:cNvSpPr txBox="1"/>
          <p:nvPr/>
        </p:nvSpPr>
        <p:spPr>
          <a:xfrm>
            <a:off x="374904" y="411480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16" name="Rectangle 15"/>
          <p:cNvSpPr/>
          <p:nvPr/>
        </p:nvSpPr>
        <p:spPr>
          <a:xfrm>
            <a:off x="2560320" y="1508760"/>
            <a:ext cx="2103120" cy="274320"/>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06040" y="1527048"/>
            <a:ext cx="2011680" cy="256032"/>
          </a:xfrm>
          <a:prstGeom prst="rect">
            <a:avLst/>
          </a:prstGeom>
          <a:noFill/>
        </p:spPr>
        <p:txBody>
          <a:bodyPr wrap="square">
            <a:spAutoFit/>
          </a:bodyPr>
          <a:lstStyle/>
          <a:p>
            <a:pPr algn="l"/>
            <a:r>
              <a:rPr sz="900" b="1">
                <a:solidFill>
                  <a:srgbClr val="FFFFFF"/>
                </a:solidFill>
                <a:latin typeface="Calibri"/>
              </a:rPr>
              <a:t>INDUSTRY (3 slots)</a:t>
            </a:r>
          </a:p>
        </p:txBody>
      </p:sp>
      <p:sp>
        <p:nvSpPr>
          <p:cNvPr id="18" name="Rectangle 17"/>
          <p:cNvSpPr/>
          <p:nvPr/>
        </p:nvSpPr>
        <p:spPr>
          <a:xfrm>
            <a:off x="2560320" y="180136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15184" y="1837944"/>
            <a:ext cx="1993392" cy="201168"/>
          </a:xfrm>
          <a:prstGeom prst="rect">
            <a:avLst/>
          </a:prstGeom>
          <a:noFill/>
        </p:spPr>
        <p:txBody>
          <a:bodyPr wrap="square">
            <a:spAutoFit/>
          </a:bodyPr>
          <a:lstStyle/>
          <a:p>
            <a:pPr algn="l"/>
            <a:r>
              <a:rPr sz="900" b="1">
                <a:solidFill>
                  <a:srgbClr val="EA580D"/>
                </a:solidFill>
                <a:latin typeface="Calibri"/>
              </a:rPr>
              <a:t>Q4:</a:t>
            </a:r>
          </a:p>
        </p:txBody>
      </p:sp>
      <p:sp>
        <p:nvSpPr>
          <p:cNvPr id="20" name="TextBox 19"/>
          <p:cNvSpPr txBox="1"/>
          <p:nvPr/>
        </p:nvSpPr>
        <p:spPr>
          <a:xfrm>
            <a:off x="2615184" y="237744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21" name="Rectangle 20"/>
          <p:cNvSpPr/>
          <p:nvPr/>
        </p:nvSpPr>
        <p:spPr>
          <a:xfrm>
            <a:off x="2560320" y="267004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15184" y="2706624"/>
            <a:ext cx="1993392" cy="201168"/>
          </a:xfrm>
          <a:prstGeom prst="rect">
            <a:avLst/>
          </a:prstGeom>
          <a:noFill/>
        </p:spPr>
        <p:txBody>
          <a:bodyPr wrap="square">
            <a:spAutoFit/>
          </a:bodyPr>
          <a:lstStyle/>
          <a:p>
            <a:pPr algn="l"/>
            <a:r>
              <a:rPr sz="900" b="1">
                <a:solidFill>
                  <a:srgbClr val="EA580D"/>
                </a:solidFill>
                <a:latin typeface="Calibri"/>
              </a:rPr>
              <a:t>Q5:</a:t>
            </a:r>
          </a:p>
        </p:txBody>
      </p:sp>
      <p:sp>
        <p:nvSpPr>
          <p:cNvPr id="23" name="TextBox 22"/>
          <p:cNvSpPr txBox="1"/>
          <p:nvPr/>
        </p:nvSpPr>
        <p:spPr>
          <a:xfrm>
            <a:off x="2615184" y="324612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24" name="Rectangle 23"/>
          <p:cNvSpPr/>
          <p:nvPr/>
        </p:nvSpPr>
        <p:spPr>
          <a:xfrm>
            <a:off x="2560320" y="353872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15184" y="3575304"/>
            <a:ext cx="1993392" cy="201168"/>
          </a:xfrm>
          <a:prstGeom prst="rect">
            <a:avLst/>
          </a:prstGeom>
          <a:noFill/>
        </p:spPr>
        <p:txBody>
          <a:bodyPr wrap="square">
            <a:spAutoFit/>
          </a:bodyPr>
          <a:lstStyle/>
          <a:p>
            <a:pPr algn="l"/>
            <a:r>
              <a:rPr sz="900" b="1">
                <a:solidFill>
                  <a:srgbClr val="EA580D"/>
                </a:solidFill>
                <a:latin typeface="Calibri"/>
              </a:rPr>
              <a:t>Q6:</a:t>
            </a:r>
          </a:p>
        </p:txBody>
      </p:sp>
      <p:sp>
        <p:nvSpPr>
          <p:cNvPr id="26" name="TextBox 25"/>
          <p:cNvSpPr txBox="1"/>
          <p:nvPr/>
        </p:nvSpPr>
        <p:spPr>
          <a:xfrm>
            <a:off x="2615184" y="411480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27" name="Rectangle 26"/>
          <p:cNvSpPr/>
          <p:nvPr/>
        </p:nvSpPr>
        <p:spPr>
          <a:xfrm>
            <a:off x="4800600" y="1508760"/>
            <a:ext cx="2103120" cy="274320"/>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46320" y="1527048"/>
            <a:ext cx="2011680" cy="256032"/>
          </a:xfrm>
          <a:prstGeom prst="rect">
            <a:avLst/>
          </a:prstGeom>
          <a:noFill/>
        </p:spPr>
        <p:txBody>
          <a:bodyPr wrap="square">
            <a:spAutoFit/>
          </a:bodyPr>
          <a:lstStyle/>
          <a:p>
            <a:pPr algn="l"/>
            <a:r>
              <a:rPr sz="900" b="1">
                <a:solidFill>
                  <a:srgbClr val="FFFFFF"/>
                </a:solidFill>
                <a:latin typeface="Calibri"/>
              </a:rPr>
              <a:t>BUSINESS (4 slots)</a:t>
            </a:r>
          </a:p>
        </p:txBody>
      </p:sp>
      <p:sp>
        <p:nvSpPr>
          <p:cNvPr id="29" name="Rectangle 28"/>
          <p:cNvSpPr/>
          <p:nvPr/>
        </p:nvSpPr>
        <p:spPr>
          <a:xfrm>
            <a:off x="4800600" y="180136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55464" y="1837944"/>
            <a:ext cx="1993392" cy="201168"/>
          </a:xfrm>
          <a:prstGeom prst="rect">
            <a:avLst/>
          </a:prstGeom>
          <a:noFill/>
        </p:spPr>
        <p:txBody>
          <a:bodyPr wrap="square">
            <a:spAutoFit/>
          </a:bodyPr>
          <a:lstStyle/>
          <a:p>
            <a:pPr algn="l"/>
            <a:r>
              <a:rPr sz="900" b="1">
                <a:solidFill>
                  <a:srgbClr val="EA580D"/>
                </a:solidFill>
                <a:latin typeface="Calibri"/>
              </a:rPr>
              <a:t>Q7:</a:t>
            </a:r>
          </a:p>
        </p:txBody>
      </p:sp>
      <p:sp>
        <p:nvSpPr>
          <p:cNvPr id="31" name="TextBox 30"/>
          <p:cNvSpPr txBox="1"/>
          <p:nvPr/>
        </p:nvSpPr>
        <p:spPr>
          <a:xfrm>
            <a:off x="4855464" y="237744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32" name="Rectangle 31"/>
          <p:cNvSpPr/>
          <p:nvPr/>
        </p:nvSpPr>
        <p:spPr>
          <a:xfrm>
            <a:off x="4800600" y="267004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55464" y="2706624"/>
            <a:ext cx="1993392" cy="201168"/>
          </a:xfrm>
          <a:prstGeom prst="rect">
            <a:avLst/>
          </a:prstGeom>
          <a:noFill/>
        </p:spPr>
        <p:txBody>
          <a:bodyPr wrap="square">
            <a:spAutoFit/>
          </a:bodyPr>
          <a:lstStyle/>
          <a:p>
            <a:pPr algn="l"/>
            <a:r>
              <a:rPr sz="900" b="1">
                <a:solidFill>
                  <a:srgbClr val="EA580D"/>
                </a:solidFill>
                <a:latin typeface="Calibri"/>
              </a:rPr>
              <a:t>Q8:</a:t>
            </a:r>
          </a:p>
        </p:txBody>
      </p:sp>
      <p:sp>
        <p:nvSpPr>
          <p:cNvPr id="34" name="TextBox 33"/>
          <p:cNvSpPr txBox="1"/>
          <p:nvPr/>
        </p:nvSpPr>
        <p:spPr>
          <a:xfrm>
            <a:off x="4855464" y="324612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35" name="Rectangle 34"/>
          <p:cNvSpPr/>
          <p:nvPr/>
        </p:nvSpPr>
        <p:spPr>
          <a:xfrm>
            <a:off x="4800600" y="353872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55464" y="3575304"/>
            <a:ext cx="1993392" cy="201168"/>
          </a:xfrm>
          <a:prstGeom prst="rect">
            <a:avLst/>
          </a:prstGeom>
          <a:noFill/>
        </p:spPr>
        <p:txBody>
          <a:bodyPr wrap="square">
            <a:spAutoFit/>
          </a:bodyPr>
          <a:lstStyle/>
          <a:p>
            <a:pPr algn="l"/>
            <a:r>
              <a:rPr sz="900" b="1">
                <a:solidFill>
                  <a:srgbClr val="EA580D"/>
                </a:solidFill>
                <a:latin typeface="Calibri"/>
              </a:rPr>
              <a:t>Q9:</a:t>
            </a:r>
          </a:p>
        </p:txBody>
      </p:sp>
      <p:sp>
        <p:nvSpPr>
          <p:cNvPr id="37" name="TextBox 36"/>
          <p:cNvSpPr txBox="1"/>
          <p:nvPr/>
        </p:nvSpPr>
        <p:spPr>
          <a:xfrm>
            <a:off x="4855464" y="411480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38" name="Rectangle 37"/>
          <p:cNvSpPr/>
          <p:nvPr/>
        </p:nvSpPr>
        <p:spPr>
          <a:xfrm>
            <a:off x="4800600" y="440740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55464" y="4443984"/>
            <a:ext cx="1993392" cy="201168"/>
          </a:xfrm>
          <a:prstGeom prst="rect">
            <a:avLst/>
          </a:prstGeom>
          <a:noFill/>
        </p:spPr>
        <p:txBody>
          <a:bodyPr wrap="square">
            <a:spAutoFit/>
          </a:bodyPr>
          <a:lstStyle/>
          <a:p>
            <a:pPr algn="l"/>
            <a:r>
              <a:rPr sz="900" b="1">
                <a:solidFill>
                  <a:srgbClr val="EA580D"/>
                </a:solidFill>
                <a:latin typeface="Calibri"/>
              </a:rPr>
              <a:t>Q10:</a:t>
            </a:r>
          </a:p>
        </p:txBody>
      </p:sp>
      <p:sp>
        <p:nvSpPr>
          <p:cNvPr id="40" name="TextBox 39"/>
          <p:cNvSpPr txBox="1"/>
          <p:nvPr/>
        </p:nvSpPr>
        <p:spPr>
          <a:xfrm>
            <a:off x="4855464" y="498348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41" name="Rectangle 40"/>
          <p:cNvSpPr/>
          <p:nvPr/>
        </p:nvSpPr>
        <p:spPr>
          <a:xfrm>
            <a:off x="7040880" y="1508760"/>
            <a:ext cx="2103120" cy="274320"/>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86600" y="1527048"/>
            <a:ext cx="2011680" cy="256032"/>
          </a:xfrm>
          <a:prstGeom prst="rect">
            <a:avLst/>
          </a:prstGeom>
          <a:noFill/>
        </p:spPr>
        <p:txBody>
          <a:bodyPr wrap="square">
            <a:spAutoFit/>
          </a:bodyPr>
          <a:lstStyle/>
          <a:p>
            <a:pPr algn="l"/>
            <a:r>
              <a:rPr sz="900" b="1">
                <a:solidFill>
                  <a:srgbClr val="FFFFFF"/>
                </a:solidFill>
                <a:latin typeface="Calibri"/>
              </a:rPr>
              <a:t>PERSONAL (4 slots)</a:t>
            </a:r>
          </a:p>
        </p:txBody>
      </p:sp>
      <p:sp>
        <p:nvSpPr>
          <p:cNvPr id="43" name="Rectangle 42"/>
          <p:cNvSpPr/>
          <p:nvPr/>
        </p:nvSpPr>
        <p:spPr>
          <a:xfrm>
            <a:off x="7040880" y="180136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95744" y="1837944"/>
            <a:ext cx="1993392" cy="201168"/>
          </a:xfrm>
          <a:prstGeom prst="rect">
            <a:avLst/>
          </a:prstGeom>
          <a:noFill/>
        </p:spPr>
        <p:txBody>
          <a:bodyPr wrap="square">
            <a:spAutoFit/>
          </a:bodyPr>
          <a:lstStyle/>
          <a:p>
            <a:pPr algn="l"/>
            <a:r>
              <a:rPr sz="900" b="1">
                <a:solidFill>
                  <a:srgbClr val="EA580D"/>
                </a:solidFill>
                <a:latin typeface="Calibri"/>
              </a:rPr>
              <a:t>Q11:</a:t>
            </a:r>
          </a:p>
        </p:txBody>
      </p:sp>
      <p:sp>
        <p:nvSpPr>
          <p:cNvPr id="45" name="TextBox 44"/>
          <p:cNvSpPr txBox="1"/>
          <p:nvPr/>
        </p:nvSpPr>
        <p:spPr>
          <a:xfrm>
            <a:off x="7095744" y="237744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46" name="Rectangle 45"/>
          <p:cNvSpPr/>
          <p:nvPr/>
        </p:nvSpPr>
        <p:spPr>
          <a:xfrm>
            <a:off x="7040880" y="267004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95744" y="2706624"/>
            <a:ext cx="1993392" cy="201168"/>
          </a:xfrm>
          <a:prstGeom prst="rect">
            <a:avLst/>
          </a:prstGeom>
          <a:noFill/>
        </p:spPr>
        <p:txBody>
          <a:bodyPr wrap="square">
            <a:spAutoFit/>
          </a:bodyPr>
          <a:lstStyle/>
          <a:p>
            <a:pPr algn="l"/>
            <a:r>
              <a:rPr sz="900" b="1">
                <a:solidFill>
                  <a:srgbClr val="EA580D"/>
                </a:solidFill>
                <a:latin typeface="Calibri"/>
              </a:rPr>
              <a:t>Q12:</a:t>
            </a:r>
          </a:p>
        </p:txBody>
      </p:sp>
      <p:sp>
        <p:nvSpPr>
          <p:cNvPr id="48" name="TextBox 47"/>
          <p:cNvSpPr txBox="1"/>
          <p:nvPr/>
        </p:nvSpPr>
        <p:spPr>
          <a:xfrm>
            <a:off x="7095744" y="324612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49" name="Rectangle 48"/>
          <p:cNvSpPr/>
          <p:nvPr/>
        </p:nvSpPr>
        <p:spPr>
          <a:xfrm>
            <a:off x="7040880" y="353872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95744" y="3575304"/>
            <a:ext cx="1993392" cy="201168"/>
          </a:xfrm>
          <a:prstGeom prst="rect">
            <a:avLst/>
          </a:prstGeom>
          <a:noFill/>
        </p:spPr>
        <p:txBody>
          <a:bodyPr wrap="square">
            <a:spAutoFit/>
          </a:bodyPr>
          <a:lstStyle/>
          <a:p>
            <a:pPr algn="l"/>
            <a:r>
              <a:rPr sz="900" b="1">
                <a:solidFill>
                  <a:srgbClr val="EA580D"/>
                </a:solidFill>
                <a:latin typeface="Calibri"/>
              </a:rPr>
              <a:t>Q13:</a:t>
            </a:r>
          </a:p>
        </p:txBody>
      </p:sp>
      <p:sp>
        <p:nvSpPr>
          <p:cNvPr id="51" name="TextBox 50"/>
          <p:cNvSpPr txBox="1"/>
          <p:nvPr/>
        </p:nvSpPr>
        <p:spPr>
          <a:xfrm>
            <a:off x="7095744" y="411480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52" name="Rectangle 51"/>
          <p:cNvSpPr/>
          <p:nvPr/>
        </p:nvSpPr>
        <p:spPr>
          <a:xfrm>
            <a:off x="7040880" y="440740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95744" y="4443984"/>
            <a:ext cx="1993392" cy="201168"/>
          </a:xfrm>
          <a:prstGeom prst="rect">
            <a:avLst/>
          </a:prstGeom>
          <a:noFill/>
        </p:spPr>
        <p:txBody>
          <a:bodyPr wrap="square">
            <a:spAutoFit/>
          </a:bodyPr>
          <a:lstStyle/>
          <a:p>
            <a:pPr algn="l"/>
            <a:r>
              <a:rPr sz="900" b="1">
                <a:solidFill>
                  <a:srgbClr val="EA580D"/>
                </a:solidFill>
                <a:latin typeface="Calibri"/>
              </a:rPr>
              <a:t>Q14:</a:t>
            </a:r>
          </a:p>
        </p:txBody>
      </p:sp>
      <p:sp>
        <p:nvSpPr>
          <p:cNvPr id="54" name="TextBox 53"/>
          <p:cNvSpPr txBox="1"/>
          <p:nvPr/>
        </p:nvSpPr>
        <p:spPr>
          <a:xfrm>
            <a:off x="7095744" y="498348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55" name="Rectangle 54"/>
          <p:cNvSpPr/>
          <p:nvPr/>
        </p:nvSpPr>
        <p:spPr>
          <a:xfrm>
            <a:off x="9281160" y="1508760"/>
            <a:ext cx="2103120" cy="274320"/>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26880" y="1527048"/>
            <a:ext cx="2011680" cy="256032"/>
          </a:xfrm>
          <a:prstGeom prst="rect">
            <a:avLst/>
          </a:prstGeom>
          <a:noFill/>
        </p:spPr>
        <p:txBody>
          <a:bodyPr wrap="square">
            <a:spAutoFit/>
          </a:bodyPr>
          <a:lstStyle/>
          <a:p>
            <a:pPr algn="l"/>
            <a:r>
              <a:rPr sz="900" b="1">
                <a:solidFill>
                  <a:srgbClr val="FFFFFF"/>
                </a:solidFill>
                <a:latin typeface="Calibri"/>
              </a:rPr>
              <a:t>OUTRO (3 slots)</a:t>
            </a:r>
          </a:p>
        </p:txBody>
      </p:sp>
      <p:sp>
        <p:nvSpPr>
          <p:cNvPr id="57" name="Rectangle 56"/>
          <p:cNvSpPr/>
          <p:nvPr/>
        </p:nvSpPr>
        <p:spPr>
          <a:xfrm>
            <a:off x="9281160" y="180136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336024" y="1837944"/>
            <a:ext cx="1993392" cy="201168"/>
          </a:xfrm>
          <a:prstGeom prst="rect">
            <a:avLst/>
          </a:prstGeom>
          <a:noFill/>
        </p:spPr>
        <p:txBody>
          <a:bodyPr wrap="square">
            <a:spAutoFit/>
          </a:bodyPr>
          <a:lstStyle/>
          <a:p>
            <a:pPr algn="l"/>
            <a:r>
              <a:rPr sz="900" b="1">
                <a:solidFill>
                  <a:srgbClr val="EA580D"/>
                </a:solidFill>
                <a:latin typeface="Calibri"/>
              </a:rPr>
              <a:t>Q15:</a:t>
            </a:r>
          </a:p>
        </p:txBody>
      </p:sp>
      <p:sp>
        <p:nvSpPr>
          <p:cNvPr id="59" name="TextBox 58"/>
          <p:cNvSpPr txBox="1"/>
          <p:nvPr/>
        </p:nvSpPr>
        <p:spPr>
          <a:xfrm>
            <a:off x="9336024" y="237744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60" name="Rectangle 59"/>
          <p:cNvSpPr/>
          <p:nvPr/>
        </p:nvSpPr>
        <p:spPr>
          <a:xfrm>
            <a:off x="9281160" y="267004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336024" y="2706624"/>
            <a:ext cx="1993392" cy="201168"/>
          </a:xfrm>
          <a:prstGeom prst="rect">
            <a:avLst/>
          </a:prstGeom>
          <a:noFill/>
        </p:spPr>
        <p:txBody>
          <a:bodyPr wrap="square">
            <a:spAutoFit/>
          </a:bodyPr>
          <a:lstStyle/>
          <a:p>
            <a:pPr algn="l"/>
            <a:r>
              <a:rPr sz="900" b="1">
                <a:solidFill>
                  <a:srgbClr val="EA580D"/>
                </a:solidFill>
                <a:latin typeface="Calibri"/>
              </a:rPr>
              <a:t>Q16:</a:t>
            </a:r>
          </a:p>
        </p:txBody>
      </p:sp>
      <p:sp>
        <p:nvSpPr>
          <p:cNvPr id="62" name="TextBox 61"/>
          <p:cNvSpPr txBox="1"/>
          <p:nvPr/>
        </p:nvSpPr>
        <p:spPr>
          <a:xfrm>
            <a:off x="9336024" y="324612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
        <p:nvSpPr>
          <p:cNvPr id="63" name="Rectangle 62"/>
          <p:cNvSpPr/>
          <p:nvPr/>
        </p:nvSpPr>
        <p:spPr>
          <a:xfrm>
            <a:off x="9281160" y="3538728"/>
            <a:ext cx="2103120" cy="82296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336024" y="3575304"/>
            <a:ext cx="1993392" cy="201168"/>
          </a:xfrm>
          <a:prstGeom prst="rect">
            <a:avLst/>
          </a:prstGeom>
          <a:noFill/>
        </p:spPr>
        <p:txBody>
          <a:bodyPr wrap="square">
            <a:spAutoFit/>
          </a:bodyPr>
          <a:lstStyle/>
          <a:p>
            <a:pPr algn="l"/>
            <a:r>
              <a:rPr sz="900" b="1">
                <a:solidFill>
                  <a:srgbClr val="EA580D"/>
                </a:solidFill>
                <a:latin typeface="Calibri"/>
              </a:rPr>
              <a:t>Magic wand Q:</a:t>
            </a:r>
          </a:p>
        </p:txBody>
      </p:sp>
      <p:sp>
        <p:nvSpPr>
          <p:cNvPr id="65" name="TextBox 64"/>
          <p:cNvSpPr txBox="1"/>
          <p:nvPr/>
        </p:nvSpPr>
        <p:spPr>
          <a:xfrm>
            <a:off x="9336024" y="4114800"/>
            <a:ext cx="1993392" cy="201168"/>
          </a:xfrm>
          <a:prstGeom prst="rect">
            <a:avLst/>
          </a:prstGeom>
          <a:noFill/>
        </p:spPr>
        <p:txBody>
          <a:bodyPr wrap="square">
            <a:spAutoFit/>
          </a:bodyPr>
          <a:lstStyle/>
          <a:p>
            <a:pPr algn="l"/>
            <a:r>
              <a:rPr sz="800" b="0">
                <a:solidFill>
                  <a:srgbClr val="64748B"/>
                </a:solidFill>
                <a:latin typeface="Calibri"/>
              </a:rPr>
              <a:t>Signal tag: ________________</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2 - ASSESSMENT</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Interview Script: self-review</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0972800" cy="320040"/>
          </a:xfrm>
          <a:prstGeom prst="rect">
            <a:avLst/>
          </a:prstGeom>
          <a:noFill/>
        </p:spPr>
        <p:txBody>
          <a:bodyPr wrap="square">
            <a:spAutoFit/>
          </a:bodyPr>
          <a:lstStyle/>
          <a:p>
            <a:pPr algn="l"/>
            <a:r>
              <a:rPr sz="1200" b="0">
                <a:solidFill>
                  <a:srgbClr val="64748B"/>
                </a:solidFill>
                <a:latin typeface="Calibri"/>
              </a:rPr>
              <a:t>Signal coverage check: does your script surface all five signals? Tick each one covered.</a:t>
            </a:r>
          </a:p>
        </p:txBody>
      </p:sp>
      <p:sp>
        <p:nvSpPr>
          <p:cNvPr id="6" name="Rectangle 5"/>
          <p:cNvSpPr/>
          <p:nvPr/>
        </p:nvSpPr>
        <p:spPr>
          <a:xfrm>
            <a:off x="548640" y="1965960"/>
            <a:ext cx="320040" cy="292608"/>
          </a:xfrm>
          <a:prstGeom prst="rect">
            <a:avLst/>
          </a:prstGeom>
          <a:solidFill>
            <a:srgbClr val="FFFFFF"/>
          </a:solidFill>
          <a:ln w="1270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65960"/>
            <a:ext cx="4572000" cy="292608"/>
          </a:xfrm>
          <a:prstGeom prst="rect">
            <a:avLst/>
          </a:prstGeom>
          <a:noFill/>
        </p:spPr>
        <p:txBody>
          <a:bodyPr wrap="square">
            <a:spAutoFit/>
          </a:bodyPr>
          <a:lstStyle/>
          <a:p>
            <a:pPr algn="l"/>
            <a:r>
              <a:rPr sz="1200" b="0">
                <a:solidFill>
                  <a:srgbClr val="0F172A"/>
                </a:solidFill>
                <a:latin typeface="Calibri"/>
              </a:rPr>
              <a:t>Recency and frequency</a:t>
            </a:r>
          </a:p>
        </p:txBody>
      </p:sp>
      <p:sp>
        <p:nvSpPr>
          <p:cNvPr id="8" name="Rectangle 7"/>
          <p:cNvSpPr/>
          <p:nvPr/>
        </p:nvSpPr>
        <p:spPr>
          <a:xfrm>
            <a:off x="548640" y="2350008"/>
            <a:ext cx="320040" cy="292608"/>
          </a:xfrm>
          <a:prstGeom prst="rect">
            <a:avLst/>
          </a:prstGeom>
          <a:solidFill>
            <a:srgbClr val="FFFFFF"/>
          </a:solidFill>
          <a:ln w="1270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50008"/>
            <a:ext cx="4572000" cy="292608"/>
          </a:xfrm>
          <a:prstGeom prst="rect">
            <a:avLst/>
          </a:prstGeom>
          <a:noFill/>
        </p:spPr>
        <p:txBody>
          <a:bodyPr wrap="square">
            <a:spAutoFit/>
          </a:bodyPr>
          <a:lstStyle/>
          <a:p>
            <a:pPr algn="l"/>
            <a:r>
              <a:rPr sz="1200" b="0">
                <a:solidFill>
                  <a:srgbClr val="0F172A"/>
                </a:solidFill>
                <a:latin typeface="Calibri"/>
              </a:rPr>
              <a:t>Concrete behaviour</a:t>
            </a:r>
          </a:p>
        </p:txBody>
      </p:sp>
      <p:sp>
        <p:nvSpPr>
          <p:cNvPr id="10" name="Rectangle 9"/>
          <p:cNvSpPr/>
          <p:nvPr/>
        </p:nvSpPr>
        <p:spPr>
          <a:xfrm>
            <a:off x="548640" y="2734056"/>
            <a:ext cx="320040" cy="292608"/>
          </a:xfrm>
          <a:prstGeom prst="rect">
            <a:avLst/>
          </a:prstGeom>
          <a:solidFill>
            <a:srgbClr val="FFFFFF"/>
          </a:solidFill>
          <a:ln w="1270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734056"/>
            <a:ext cx="4572000" cy="292608"/>
          </a:xfrm>
          <a:prstGeom prst="rect">
            <a:avLst/>
          </a:prstGeom>
          <a:noFill/>
        </p:spPr>
        <p:txBody>
          <a:bodyPr wrap="square">
            <a:spAutoFit/>
          </a:bodyPr>
          <a:lstStyle/>
          <a:p>
            <a:pPr algn="l"/>
            <a:r>
              <a:rPr sz="1200" b="0">
                <a:solidFill>
                  <a:srgbClr val="0F172A"/>
                </a:solidFill>
                <a:latin typeface="Calibri"/>
              </a:rPr>
              <a:t>Time and money spent</a:t>
            </a:r>
          </a:p>
        </p:txBody>
      </p:sp>
      <p:sp>
        <p:nvSpPr>
          <p:cNvPr id="12" name="Rectangle 11"/>
          <p:cNvSpPr/>
          <p:nvPr/>
        </p:nvSpPr>
        <p:spPr>
          <a:xfrm>
            <a:off x="548640" y="3118104"/>
            <a:ext cx="320040" cy="292608"/>
          </a:xfrm>
          <a:prstGeom prst="rect">
            <a:avLst/>
          </a:prstGeom>
          <a:solidFill>
            <a:srgbClr val="FFFFFF"/>
          </a:solidFill>
          <a:ln w="1270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118104"/>
            <a:ext cx="4572000" cy="292608"/>
          </a:xfrm>
          <a:prstGeom prst="rect">
            <a:avLst/>
          </a:prstGeom>
          <a:noFill/>
        </p:spPr>
        <p:txBody>
          <a:bodyPr wrap="square">
            <a:spAutoFit/>
          </a:bodyPr>
          <a:lstStyle/>
          <a:p>
            <a:pPr algn="l"/>
            <a:r>
              <a:rPr sz="1200" b="0">
                <a:solidFill>
                  <a:srgbClr val="0F172A"/>
                </a:solidFill>
                <a:latin typeface="Calibri"/>
              </a:rPr>
              <a:t>Problem-area match</a:t>
            </a:r>
          </a:p>
        </p:txBody>
      </p:sp>
      <p:sp>
        <p:nvSpPr>
          <p:cNvPr id="14" name="Rectangle 13"/>
          <p:cNvSpPr/>
          <p:nvPr/>
        </p:nvSpPr>
        <p:spPr>
          <a:xfrm>
            <a:off x="548640" y="3502152"/>
            <a:ext cx="320040" cy="292608"/>
          </a:xfrm>
          <a:prstGeom prst="rect">
            <a:avLst/>
          </a:prstGeom>
          <a:solidFill>
            <a:srgbClr val="FFFFFF"/>
          </a:solidFill>
          <a:ln w="1270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502152"/>
            <a:ext cx="4572000" cy="292608"/>
          </a:xfrm>
          <a:prstGeom prst="rect">
            <a:avLst/>
          </a:prstGeom>
          <a:noFill/>
        </p:spPr>
        <p:txBody>
          <a:bodyPr wrap="square">
            <a:spAutoFit/>
          </a:bodyPr>
          <a:lstStyle/>
          <a:p>
            <a:pPr algn="l"/>
            <a:r>
              <a:rPr sz="1200" b="0">
                <a:solidFill>
                  <a:srgbClr val="0F172A"/>
                </a:solidFill>
                <a:latin typeface="Calibri"/>
              </a:rPr>
              <a:t>Awareness level</a:t>
            </a:r>
          </a:p>
        </p:txBody>
      </p:sp>
      <p:sp>
        <p:nvSpPr>
          <p:cNvPr id="16" name="TextBox 15"/>
          <p:cNvSpPr txBox="1"/>
          <p:nvPr/>
        </p:nvSpPr>
        <p:spPr>
          <a:xfrm>
            <a:off x="548640" y="4023360"/>
            <a:ext cx="5029200" cy="320040"/>
          </a:xfrm>
          <a:prstGeom prst="rect">
            <a:avLst/>
          </a:prstGeom>
          <a:noFill/>
        </p:spPr>
        <p:txBody>
          <a:bodyPr wrap="square">
            <a:spAutoFit/>
          </a:bodyPr>
          <a:lstStyle/>
          <a:p>
            <a:pPr algn="l"/>
            <a:r>
              <a:rPr sz="1100" b="1">
                <a:solidFill>
                  <a:srgbClr val="64748B"/>
                </a:solidFill>
                <a:latin typeface="Calibri"/>
              </a:rPr>
              <a:t>Gaps or weak sections (which section needs more questions?):</a:t>
            </a:r>
          </a:p>
        </p:txBody>
      </p:sp>
      <p:sp>
        <p:nvSpPr>
          <p:cNvPr id="17" name="Rectangle 16"/>
          <p:cNvSpPr/>
          <p:nvPr/>
        </p:nvSpPr>
        <p:spPr>
          <a:xfrm>
            <a:off x="548640" y="4389120"/>
            <a:ext cx="5029200" cy="68580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023360"/>
            <a:ext cx="5029200" cy="320040"/>
          </a:xfrm>
          <a:prstGeom prst="rect">
            <a:avLst/>
          </a:prstGeom>
          <a:noFill/>
        </p:spPr>
        <p:txBody>
          <a:bodyPr wrap="square">
            <a:spAutoFit/>
          </a:bodyPr>
          <a:lstStyle/>
          <a:p>
            <a:pPr algn="l"/>
            <a:r>
              <a:rPr sz="1100" b="1">
                <a:solidFill>
                  <a:srgbClr val="64748B"/>
                </a:solidFill>
                <a:latin typeface="Calibri"/>
              </a:rPr>
              <a:t>Next action (revise script, pilot with a teammate?):</a:t>
            </a:r>
          </a:p>
        </p:txBody>
      </p:sp>
      <p:sp>
        <p:nvSpPr>
          <p:cNvPr id="19" name="Rectangle 18"/>
          <p:cNvSpPr/>
          <p:nvPr/>
        </p:nvSpPr>
        <p:spPr>
          <a:xfrm>
            <a:off x="6400800" y="4389120"/>
            <a:ext cx="5029200" cy="68580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3 OF 3</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Contact List: what it is</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1064240" cy="5029200"/>
          </a:xfrm>
          <a:prstGeom prst="rect">
            <a:avLst/>
          </a:prstGeom>
          <a:noFill/>
        </p:spPr>
        <p:txBody>
          <a:bodyPr wrap="square">
            <a:spAutoFit/>
          </a:bodyPr>
          <a:lstStyle/>
          <a:p>
            <a:pPr algn="l"/>
            <a:r>
              <a:rPr sz="1300" b="0">
                <a:solidFill>
                  <a:srgbClr val="0F172A"/>
                </a:solidFill>
                <a:latin typeface="Calibri"/>
              </a:rPr>
              <a:t>Your interview outcomes depend almost entirely on who you talk to. Talking to the wrong people gives you confident but useless data.
Credibility-first rule: before anyone agrees to talk to you, they are deciding whether you are worth their time. You have three levers to build credibility fast:
  1. Website - live, professional, explains the problem you solve
  2. LinkedIn - updated, shows relevant background, not just your product
  3. Social proof - at least one warm introduction, advisor name, or reference from someone they know
ICP discipline: every name on your list should be the same type of person. If your list has 10 different job titles and 8 different industries, your ICP is not defined.
Target: 25 contacts minimum. Aim for 10 booked calls in Week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3 - TEMPLATE</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Contact List: fill in</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0972800" cy="274320"/>
          </a:xfrm>
          <a:prstGeom prst="rect">
            <a:avLst/>
          </a:prstGeom>
          <a:noFill/>
        </p:spPr>
        <p:txBody>
          <a:bodyPr wrap="square">
            <a:spAutoFit/>
          </a:bodyPr>
          <a:lstStyle/>
          <a:p>
            <a:pPr algn="l"/>
            <a:r>
              <a:rPr sz="1200" b="0">
                <a:solidFill>
                  <a:srgbClr val="64748B"/>
                </a:solidFill>
                <a:latin typeface="Calibri"/>
              </a:rPr>
              <a:t>ICP definition (one sentence): _____________________________________________________</a:t>
            </a:r>
          </a:p>
        </p:txBody>
      </p:sp>
      <p:sp>
        <p:nvSpPr>
          <p:cNvPr id="6" name="TextBox 5"/>
          <p:cNvSpPr txBox="1"/>
          <p:nvPr/>
        </p:nvSpPr>
        <p:spPr>
          <a:xfrm>
            <a:off x="548640" y="1874519"/>
            <a:ext cx="2743200" cy="256032"/>
          </a:xfrm>
          <a:prstGeom prst="rect">
            <a:avLst/>
          </a:prstGeom>
          <a:noFill/>
        </p:spPr>
        <p:txBody>
          <a:bodyPr wrap="square">
            <a:spAutoFit/>
          </a:bodyPr>
          <a:lstStyle/>
          <a:p>
            <a:pPr algn="l"/>
            <a:r>
              <a:rPr sz="1100" b="1">
                <a:solidFill>
                  <a:srgbClr val="64748B"/>
                </a:solidFill>
                <a:latin typeface="Calibri"/>
              </a:rPr>
              <a:t>Credibility checklist:</a:t>
            </a:r>
          </a:p>
        </p:txBody>
      </p:sp>
      <p:sp>
        <p:nvSpPr>
          <p:cNvPr id="7" name="Rectangle 6"/>
          <p:cNvSpPr/>
          <p:nvPr/>
        </p:nvSpPr>
        <p:spPr>
          <a:xfrm>
            <a:off x="548640" y="2148840"/>
            <a:ext cx="256032" cy="237744"/>
          </a:xfrm>
          <a:prstGeom prst="rect">
            <a:avLst/>
          </a:prstGeom>
          <a:solidFill>
            <a:srgbClr val="FFFFFF"/>
          </a:solidFill>
          <a:ln w="1270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148840"/>
            <a:ext cx="5029200" cy="256032"/>
          </a:xfrm>
          <a:prstGeom prst="rect">
            <a:avLst/>
          </a:prstGeom>
          <a:noFill/>
        </p:spPr>
        <p:txBody>
          <a:bodyPr wrap="square">
            <a:spAutoFit/>
          </a:bodyPr>
          <a:lstStyle/>
          <a:p>
            <a:pPr algn="l"/>
            <a:r>
              <a:rPr sz="1100" b="0">
                <a:solidFill>
                  <a:srgbClr val="0F172A"/>
                </a:solidFill>
                <a:latin typeface="Calibri"/>
              </a:rPr>
              <a:t>Website live and professional</a:t>
            </a:r>
          </a:p>
        </p:txBody>
      </p:sp>
      <p:sp>
        <p:nvSpPr>
          <p:cNvPr id="9" name="Rectangle 8"/>
          <p:cNvSpPr/>
          <p:nvPr/>
        </p:nvSpPr>
        <p:spPr>
          <a:xfrm>
            <a:off x="548640" y="2496312"/>
            <a:ext cx="256032" cy="237744"/>
          </a:xfrm>
          <a:prstGeom prst="rect">
            <a:avLst/>
          </a:prstGeom>
          <a:solidFill>
            <a:srgbClr val="FFFFFF"/>
          </a:solidFill>
          <a:ln w="1270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496312"/>
            <a:ext cx="5029200" cy="256032"/>
          </a:xfrm>
          <a:prstGeom prst="rect">
            <a:avLst/>
          </a:prstGeom>
          <a:noFill/>
        </p:spPr>
        <p:txBody>
          <a:bodyPr wrap="square">
            <a:spAutoFit/>
          </a:bodyPr>
          <a:lstStyle/>
          <a:p>
            <a:pPr algn="l"/>
            <a:r>
              <a:rPr sz="1100" b="0">
                <a:solidFill>
                  <a:srgbClr val="0F172A"/>
                </a:solidFill>
                <a:latin typeface="Calibri"/>
              </a:rPr>
              <a:t>LinkedIn updated with relevant background</a:t>
            </a:r>
          </a:p>
        </p:txBody>
      </p:sp>
      <p:sp>
        <p:nvSpPr>
          <p:cNvPr id="11" name="Rectangle 10"/>
          <p:cNvSpPr/>
          <p:nvPr/>
        </p:nvSpPr>
        <p:spPr>
          <a:xfrm>
            <a:off x="548640" y="2843784"/>
            <a:ext cx="256032" cy="237744"/>
          </a:xfrm>
          <a:prstGeom prst="rect">
            <a:avLst/>
          </a:prstGeom>
          <a:solidFill>
            <a:srgbClr val="FFFFFF"/>
          </a:solidFill>
          <a:ln w="1270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843784"/>
            <a:ext cx="5029200" cy="256032"/>
          </a:xfrm>
          <a:prstGeom prst="rect">
            <a:avLst/>
          </a:prstGeom>
          <a:noFill/>
        </p:spPr>
        <p:txBody>
          <a:bodyPr wrap="square">
            <a:spAutoFit/>
          </a:bodyPr>
          <a:lstStyle/>
          <a:p>
            <a:pPr algn="l"/>
            <a:r>
              <a:rPr sz="1100" b="0">
                <a:solidFill>
                  <a:srgbClr val="0F172A"/>
                </a:solidFill>
                <a:latin typeface="Calibri"/>
              </a:rPr>
              <a:t>At least one warm intro or social proof reference</a:t>
            </a:r>
          </a:p>
        </p:txBody>
      </p:sp>
      <p:sp>
        <p:nvSpPr>
          <p:cNvPr id="13" name="TextBox 12"/>
          <p:cNvSpPr txBox="1"/>
          <p:nvPr/>
        </p:nvSpPr>
        <p:spPr>
          <a:xfrm>
            <a:off x="548640" y="2971800"/>
            <a:ext cx="10972800" cy="256032"/>
          </a:xfrm>
          <a:prstGeom prst="rect">
            <a:avLst/>
          </a:prstGeom>
          <a:noFill/>
        </p:spPr>
        <p:txBody>
          <a:bodyPr wrap="square">
            <a:spAutoFit/>
          </a:bodyPr>
          <a:lstStyle/>
          <a:p>
            <a:pPr algn="l"/>
            <a:r>
              <a:rPr sz="1100" b="1">
                <a:solidFill>
                  <a:srgbClr val="64748B"/>
                </a:solidFill>
                <a:latin typeface="Calibri"/>
              </a:rPr>
              <a:t>Contact list (20 rows shown - add more on next sheet or paper):</a:t>
            </a:r>
          </a:p>
        </p:txBody>
      </p:sp>
      <p:sp>
        <p:nvSpPr>
          <p:cNvPr id="14" name="Rectangle 13"/>
          <p:cNvSpPr/>
          <p:nvPr/>
        </p:nvSpPr>
        <p:spPr>
          <a:xfrm>
            <a:off x="274320" y="3246120"/>
            <a:ext cx="1371600" cy="292608"/>
          </a:xfrm>
          <a:prstGeom prst="rect">
            <a:avLst/>
          </a:prstGeom>
          <a:solidFill>
            <a:srgbClr val="F4F4F5"/>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 y="3291840"/>
            <a:ext cx="1298448" cy="219456"/>
          </a:xfrm>
          <a:prstGeom prst="rect">
            <a:avLst/>
          </a:prstGeom>
          <a:noFill/>
        </p:spPr>
        <p:txBody>
          <a:bodyPr wrap="square">
            <a:spAutoFit/>
          </a:bodyPr>
          <a:lstStyle/>
          <a:p>
            <a:pPr algn="l"/>
            <a:r>
              <a:rPr sz="900" b="1">
                <a:solidFill>
                  <a:srgbClr val="0F172A"/>
                </a:solidFill>
                <a:latin typeface="Calibri"/>
              </a:rPr>
              <a:t>Name</a:t>
            </a:r>
          </a:p>
        </p:txBody>
      </p:sp>
      <p:sp>
        <p:nvSpPr>
          <p:cNvPr id="16" name="Rectangle 15"/>
          <p:cNvSpPr/>
          <p:nvPr/>
        </p:nvSpPr>
        <p:spPr>
          <a:xfrm>
            <a:off x="1645920" y="3246120"/>
            <a:ext cx="1371600" cy="292608"/>
          </a:xfrm>
          <a:prstGeom prst="rect">
            <a:avLst/>
          </a:prstGeom>
          <a:solidFill>
            <a:srgbClr val="F4F4F5"/>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82496" y="3291840"/>
            <a:ext cx="1298448" cy="219456"/>
          </a:xfrm>
          <a:prstGeom prst="rect">
            <a:avLst/>
          </a:prstGeom>
          <a:noFill/>
        </p:spPr>
        <p:txBody>
          <a:bodyPr wrap="square">
            <a:spAutoFit/>
          </a:bodyPr>
          <a:lstStyle/>
          <a:p>
            <a:pPr algn="l"/>
            <a:r>
              <a:rPr sz="900" b="1">
                <a:solidFill>
                  <a:srgbClr val="0F172A"/>
                </a:solidFill>
                <a:latin typeface="Calibri"/>
              </a:rPr>
              <a:t>Role</a:t>
            </a:r>
          </a:p>
        </p:txBody>
      </p:sp>
      <p:sp>
        <p:nvSpPr>
          <p:cNvPr id="18" name="Rectangle 17"/>
          <p:cNvSpPr/>
          <p:nvPr/>
        </p:nvSpPr>
        <p:spPr>
          <a:xfrm>
            <a:off x="3017520" y="3246120"/>
            <a:ext cx="1463040" cy="292608"/>
          </a:xfrm>
          <a:prstGeom prst="rect">
            <a:avLst/>
          </a:prstGeom>
          <a:solidFill>
            <a:srgbClr val="F4F4F5"/>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54096" y="3291840"/>
            <a:ext cx="1389888" cy="219456"/>
          </a:xfrm>
          <a:prstGeom prst="rect">
            <a:avLst/>
          </a:prstGeom>
          <a:noFill/>
        </p:spPr>
        <p:txBody>
          <a:bodyPr wrap="square">
            <a:spAutoFit/>
          </a:bodyPr>
          <a:lstStyle/>
          <a:p>
            <a:pPr algn="l"/>
            <a:r>
              <a:rPr sz="900" b="1">
                <a:solidFill>
                  <a:srgbClr val="0F172A"/>
                </a:solidFill>
                <a:latin typeface="Calibri"/>
              </a:rPr>
              <a:t>Company</a:t>
            </a:r>
          </a:p>
        </p:txBody>
      </p:sp>
      <p:sp>
        <p:nvSpPr>
          <p:cNvPr id="20" name="Rectangle 19"/>
          <p:cNvSpPr/>
          <p:nvPr/>
        </p:nvSpPr>
        <p:spPr>
          <a:xfrm>
            <a:off x="4480560" y="3246120"/>
            <a:ext cx="1828800" cy="292608"/>
          </a:xfrm>
          <a:prstGeom prst="rect">
            <a:avLst/>
          </a:prstGeom>
          <a:solidFill>
            <a:srgbClr val="F4F4F5"/>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7136" y="3291840"/>
            <a:ext cx="1755648" cy="219456"/>
          </a:xfrm>
          <a:prstGeom prst="rect">
            <a:avLst/>
          </a:prstGeom>
          <a:noFill/>
        </p:spPr>
        <p:txBody>
          <a:bodyPr wrap="square">
            <a:spAutoFit/>
          </a:bodyPr>
          <a:lstStyle/>
          <a:p>
            <a:pPr algn="l"/>
            <a:r>
              <a:rPr sz="900" b="1">
                <a:solidFill>
                  <a:srgbClr val="0F172A"/>
                </a:solidFill>
                <a:latin typeface="Calibri"/>
              </a:rPr>
              <a:t>Why them</a:t>
            </a:r>
          </a:p>
        </p:txBody>
      </p:sp>
      <p:sp>
        <p:nvSpPr>
          <p:cNvPr id="22" name="Rectangle 21"/>
          <p:cNvSpPr/>
          <p:nvPr/>
        </p:nvSpPr>
        <p:spPr>
          <a:xfrm>
            <a:off x="6309360" y="3246120"/>
            <a:ext cx="1097280" cy="292608"/>
          </a:xfrm>
          <a:prstGeom prst="rect">
            <a:avLst/>
          </a:prstGeom>
          <a:solidFill>
            <a:srgbClr val="F4F4F5"/>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3291840"/>
            <a:ext cx="1024128" cy="219456"/>
          </a:xfrm>
          <a:prstGeom prst="rect">
            <a:avLst/>
          </a:prstGeom>
          <a:noFill/>
        </p:spPr>
        <p:txBody>
          <a:bodyPr wrap="square">
            <a:spAutoFit/>
          </a:bodyPr>
          <a:lstStyle/>
          <a:p>
            <a:pPr algn="l"/>
            <a:r>
              <a:rPr sz="900" b="1">
                <a:solidFill>
                  <a:srgbClr val="0F172A"/>
                </a:solidFill>
                <a:latin typeface="Calibri"/>
              </a:rPr>
              <a:t>Channel</a:t>
            </a:r>
          </a:p>
        </p:txBody>
      </p:sp>
      <p:sp>
        <p:nvSpPr>
          <p:cNvPr id="24" name="Rectangle 23"/>
          <p:cNvSpPr/>
          <p:nvPr/>
        </p:nvSpPr>
        <p:spPr>
          <a:xfrm>
            <a:off x="7406640" y="3246120"/>
            <a:ext cx="1280160" cy="292608"/>
          </a:xfrm>
          <a:prstGeom prst="rect">
            <a:avLst/>
          </a:prstGeom>
          <a:solidFill>
            <a:srgbClr val="F4F4F5"/>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43216" y="3291840"/>
            <a:ext cx="1207008" cy="219456"/>
          </a:xfrm>
          <a:prstGeom prst="rect">
            <a:avLst/>
          </a:prstGeom>
          <a:noFill/>
        </p:spPr>
        <p:txBody>
          <a:bodyPr wrap="square">
            <a:spAutoFit/>
          </a:bodyPr>
          <a:lstStyle/>
          <a:p>
            <a:pPr algn="l"/>
            <a:r>
              <a:rPr sz="900" b="1">
                <a:solidFill>
                  <a:srgbClr val="0F172A"/>
                </a:solidFill>
                <a:latin typeface="Calibri"/>
              </a:rPr>
              <a:t>Status</a:t>
            </a:r>
          </a:p>
        </p:txBody>
      </p:sp>
      <p:sp>
        <p:nvSpPr>
          <p:cNvPr id="26" name="Rectangle 25"/>
          <p:cNvSpPr/>
          <p:nvPr/>
        </p:nvSpPr>
        <p:spPr>
          <a:xfrm>
            <a:off x="8686800" y="3246120"/>
            <a:ext cx="1645920" cy="292608"/>
          </a:xfrm>
          <a:prstGeom prst="rect">
            <a:avLst/>
          </a:prstGeom>
          <a:solidFill>
            <a:srgbClr val="F4F4F5"/>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23376" y="3291840"/>
            <a:ext cx="1572768" cy="219456"/>
          </a:xfrm>
          <a:prstGeom prst="rect">
            <a:avLst/>
          </a:prstGeom>
          <a:noFill/>
        </p:spPr>
        <p:txBody>
          <a:bodyPr wrap="square">
            <a:spAutoFit/>
          </a:bodyPr>
          <a:lstStyle/>
          <a:p>
            <a:pPr algn="l"/>
            <a:r>
              <a:rPr sz="900" b="1">
                <a:solidFill>
                  <a:srgbClr val="0F172A"/>
                </a:solidFill>
                <a:latin typeface="Calibri"/>
              </a:rPr>
              <a:t>Notes</a:t>
            </a:r>
          </a:p>
        </p:txBody>
      </p:sp>
      <p:sp>
        <p:nvSpPr>
          <p:cNvPr id="28" name="Rectangle 27"/>
          <p:cNvSpPr/>
          <p:nvPr/>
        </p:nvSpPr>
        <p:spPr>
          <a:xfrm>
            <a:off x="274320" y="3538728"/>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45920" y="3538728"/>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017520" y="3538728"/>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80560" y="3538728"/>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538728"/>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06640" y="3538728"/>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86800" y="3538728"/>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3831336"/>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645920" y="3831336"/>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017520" y="3831336"/>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80560" y="3831336"/>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09360" y="3831336"/>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06640" y="3831336"/>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86800" y="3831336"/>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4320" y="4123944"/>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645920" y="4123944"/>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017520" y="4123944"/>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480560" y="4123944"/>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4123944"/>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06640" y="4123944"/>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86800" y="4123944"/>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4320" y="4416552"/>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645920" y="4416552"/>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017520" y="4416552"/>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480560" y="4416552"/>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09360" y="4416552"/>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406640" y="4416552"/>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686800" y="4416552"/>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74320" y="4709160"/>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645920" y="4709160"/>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017520" y="4709160"/>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480560" y="4709160"/>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09360" y="4709160"/>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406640" y="4709160"/>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86800" y="4709160"/>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4320" y="5001768"/>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645920" y="5001768"/>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017520" y="5001768"/>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480560" y="5001768"/>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09360" y="5001768"/>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406640" y="5001768"/>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686800" y="5001768"/>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74320" y="5294376"/>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645920" y="5294376"/>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017520" y="5294376"/>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480560" y="5294376"/>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309360" y="5294376"/>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406640" y="5294376"/>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686800" y="5294376"/>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74320" y="5586984"/>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645920" y="5586984"/>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017520" y="5586984"/>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480560" y="5586984"/>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309360" y="5586984"/>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406640" y="5586984"/>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686800" y="5586984"/>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74320" y="5879592"/>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645920" y="5879592"/>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3017520" y="5879592"/>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4480560" y="5879592"/>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309360" y="5879592"/>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406640" y="5879592"/>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686800" y="5879592"/>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74320" y="6172200"/>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645920" y="6172200"/>
            <a:ext cx="13716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3017520" y="6172200"/>
            <a:ext cx="146304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480560" y="6172200"/>
            <a:ext cx="182880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309360" y="6172200"/>
            <a:ext cx="109728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406640" y="6172200"/>
            <a:ext cx="128016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686800" y="6172200"/>
            <a:ext cx="1645920" cy="292608"/>
          </a:xfrm>
          <a:prstGeom prst="rect">
            <a:avLst/>
          </a:prstGeom>
          <a:solidFill>
            <a:srgbClr val="FFFFFF"/>
          </a:solidFill>
          <a:ln w="6350">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spAutoFit/>
          </a:bodyPr>
          <a:lstStyle/>
          <a:p>
            <a:pPr algn="l"/>
            <a:r>
              <a:rPr sz="1000" b="1">
                <a:solidFill>
                  <a:srgbClr val="EA580D"/>
                </a:solidFill>
                <a:latin typeface="Calibri"/>
              </a:rPr>
              <a:t>EXERCISE 3 - ASSESSMENT</a:t>
            </a:r>
          </a:p>
        </p:txBody>
      </p:sp>
      <p:sp>
        <p:nvSpPr>
          <p:cNvPr id="3" name="TextBox 2"/>
          <p:cNvSpPr txBox="1"/>
          <p:nvPr/>
        </p:nvSpPr>
        <p:spPr>
          <a:xfrm>
            <a:off x="548640" y="685800"/>
            <a:ext cx="10972800" cy="640080"/>
          </a:xfrm>
          <a:prstGeom prst="rect">
            <a:avLst/>
          </a:prstGeom>
          <a:noFill/>
        </p:spPr>
        <p:txBody>
          <a:bodyPr wrap="square">
            <a:spAutoFit/>
          </a:bodyPr>
          <a:lstStyle/>
          <a:p>
            <a:pPr algn="l"/>
            <a:r>
              <a:rPr sz="2800" b="1">
                <a:solidFill>
                  <a:srgbClr val="0F172A"/>
                </a:solidFill>
                <a:latin typeface="Calibri"/>
              </a:rPr>
              <a:t>Contact List: self-review</a:t>
            </a:r>
          </a:p>
        </p:txBody>
      </p:sp>
      <p:sp>
        <p:nvSpPr>
          <p:cNvPr id="4" name="Rectangle 3"/>
          <p:cNvSpPr/>
          <p:nvPr/>
        </p:nvSpPr>
        <p:spPr>
          <a:xfrm>
            <a:off x="548640" y="1371600"/>
            <a:ext cx="1828800" cy="36576"/>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0972800" cy="320040"/>
          </a:xfrm>
          <a:prstGeom prst="rect">
            <a:avLst/>
          </a:prstGeom>
          <a:noFill/>
        </p:spPr>
        <p:txBody>
          <a:bodyPr wrap="square">
            <a:spAutoFit/>
          </a:bodyPr>
          <a:lstStyle/>
          <a:p>
            <a:pPr algn="l"/>
            <a:r>
              <a:rPr sz="1200" b="0">
                <a:solidFill>
                  <a:srgbClr val="64748B"/>
                </a:solidFill>
                <a:latin typeface="Calibri"/>
              </a:rPr>
              <a:t>ICP sharpness check: answer each question below.</a:t>
            </a:r>
          </a:p>
        </p:txBody>
      </p:sp>
      <p:sp>
        <p:nvSpPr>
          <p:cNvPr id="6" name="TextBox 5"/>
          <p:cNvSpPr txBox="1"/>
          <p:nvPr/>
        </p:nvSpPr>
        <p:spPr>
          <a:xfrm>
            <a:off x="548640" y="1965960"/>
            <a:ext cx="10972800" cy="274320"/>
          </a:xfrm>
          <a:prstGeom prst="rect">
            <a:avLst/>
          </a:prstGeom>
          <a:noFill/>
        </p:spPr>
        <p:txBody>
          <a:bodyPr wrap="square">
            <a:spAutoFit/>
          </a:bodyPr>
          <a:lstStyle/>
          <a:p>
            <a:pPr algn="l"/>
            <a:r>
              <a:rPr sz="1200" b="0">
                <a:solidFill>
                  <a:srgbClr val="0F172A"/>
                </a:solidFill>
                <a:latin typeface="Calibri"/>
              </a:rPr>
              <a:t>1. Do all your contacts share the same job title or seniority? (yes / no)</a:t>
            </a:r>
          </a:p>
        </p:txBody>
      </p:sp>
      <p:sp>
        <p:nvSpPr>
          <p:cNvPr id="7" name="Rectangle 6"/>
          <p:cNvSpPr/>
          <p:nvPr/>
        </p:nvSpPr>
        <p:spPr>
          <a:xfrm>
            <a:off x="548640" y="2258568"/>
            <a:ext cx="10972800" cy="27432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24328"/>
            <a:ext cx="10972800" cy="274320"/>
          </a:xfrm>
          <a:prstGeom prst="rect">
            <a:avLst/>
          </a:prstGeom>
          <a:noFill/>
        </p:spPr>
        <p:txBody>
          <a:bodyPr wrap="square">
            <a:spAutoFit/>
          </a:bodyPr>
          <a:lstStyle/>
          <a:p>
            <a:pPr algn="l"/>
            <a:r>
              <a:rPr sz="1200" b="0">
                <a:solidFill>
                  <a:srgbClr val="0F172A"/>
                </a:solidFill>
                <a:latin typeface="Calibri"/>
              </a:rPr>
              <a:t>2. Do they all work in the same industry? (yes / no)</a:t>
            </a:r>
          </a:p>
        </p:txBody>
      </p:sp>
      <p:sp>
        <p:nvSpPr>
          <p:cNvPr id="9" name="Rectangle 8"/>
          <p:cNvSpPr/>
          <p:nvPr/>
        </p:nvSpPr>
        <p:spPr>
          <a:xfrm>
            <a:off x="548640" y="2916936"/>
            <a:ext cx="10972800" cy="27432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82696"/>
            <a:ext cx="10972800" cy="274320"/>
          </a:xfrm>
          <a:prstGeom prst="rect">
            <a:avLst/>
          </a:prstGeom>
          <a:noFill/>
        </p:spPr>
        <p:txBody>
          <a:bodyPr wrap="square">
            <a:spAutoFit/>
          </a:bodyPr>
          <a:lstStyle/>
          <a:p>
            <a:pPr algn="l"/>
            <a:r>
              <a:rPr sz="1200" b="0">
                <a:solidFill>
                  <a:srgbClr val="0F172A"/>
                </a:solidFill>
                <a:latin typeface="Calibri"/>
              </a:rPr>
              <a:t>3. Do they all face the same specific problem? (yes / no)</a:t>
            </a:r>
          </a:p>
        </p:txBody>
      </p:sp>
      <p:sp>
        <p:nvSpPr>
          <p:cNvPr id="11" name="Rectangle 10"/>
          <p:cNvSpPr/>
          <p:nvPr/>
        </p:nvSpPr>
        <p:spPr>
          <a:xfrm>
            <a:off x="548640" y="3575304"/>
            <a:ext cx="10972800" cy="27432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941064"/>
            <a:ext cx="10972800" cy="274320"/>
          </a:xfrm>
          <a:prstGeom prst="rect">
            <a:avLst/>
          </a:prstGeom>
          <a:noFill/>
        </p:spPr>
        <p:txBody>
          <a:bodyPr wrap="square">
            <a:spAutoFit/>
          </a:bodyPr>
          <a:lstStyle/>
          <a:p>
            <a:pPr algn="l"/>
            <a:r>
              <a:rPr sz="1200" b="0">
                <a:solidFill>
                  <a:srgbClr val="0F172A"/>
                </a:solidFill>
                <a:latin typeface="Calibri"/>
              </a:rPr>
              <a:t>4. If any answer is no, which contacts do not fit and should be removed or moved to a later list?</a:t>
            </a:r>
          </a:p>
        </p:txBody>
      </p:sp>
      <p:sp>
        <p:nvSpPr>
          <p:cNvPr id="13" name="Rectangle 12"/>
          <p:cNvSpPr/>
          <p:nvPr/>
        </p:nvSpPr>
        <p:spPr>
          <a:xfrm>
            <a:off x="548640" y="4233672"/>
            <a:ext cx="10972800" cy="27432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599432"/>
            <a:ext cx="10972800" cy="274320"/>
          </a:xfrm>
          <a:prstGeom prst="rect">
            <a:avLst/>
          </a:prstGeom>
          <a:noFill/>
        </p:spPr>
        <p:txBody>
          <a:bodyPr wrap="square">
            <a:spAutoFit/>
          </a:bodyPr>
          <a:lstStyle/>
          <a:p>
            <a:pPr algn="l"/>
            <a:r>
              <a:rPr sz="1200" b="0">
                <a:solidFill>
                  <a:srgbClr val="0F172A"/>
                </a:solidFill>
                <a:latin typeface="Calibri"/>
              </a:rPr>
              <a:t>5. What is the single strongest warm-intro route you have?</a:t>
            </a:r>
          </a:p>
        </p:txBody>
      </p:sp>
      <p:sp>
        <p:nvSpPr>
          <p:cNvPr id="15" name="Rectangle 14"/>
          <p:cNvSpPr/>
          <p:nvPr/>
        </p:nvSpPr>
        <p:spPr>
          <a:xfrm>
            <a:off x="548640" y="4892040"/>
            <a:ext cx="10972800" cy="27432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349240"/>
            <a:ext cx="5486400" cy="320040"/>
          </a:xfrm>
          <a:prstGeom prst="rect">
            <a:avLst/>
          </a:prstGeom>
          <a:noFill/>
        </p:spPr>
        <p:txBody>
          <a:bodyPr wrap="square">
            <a:spAutoFit/>
          </a:bodyPr>
          <a:lstStyle/>
          <a:p>
            <a:pPr algn="l"/>
            <a:r>
              <a:rPr sz="1100" b="1">
                <a:solidFill>
                  <a:srgbClr val="64748B"/>
                </a:solidFill>
                <a:latin typeface="Calibri"/>
              </a:rPr>
              <a:t>Next action:</a:t>
            </a:r>
          </a:p>
        </p:txBody>
      </p:sp>
      <p:sp>
        <p:nvSpPr>
          <p:cNvPr id="17" name="Rectangle 16"/>
          <p:cNvSpPr/>
          <p:nvPr/>
        </p:nvSpPr>
        <p:spPr>
          <a:xfrm>
            <a:off x="548640" y="5715000"/>
            <a:ext cx="10972800" cy="548640"/>
          </a:xfrm>
          <a:prstGeom prst="rect">
            <a:avLst/>
          </a:prstGeom>
          <a:solidFill>
            <a:srgbClr val="FFFFFF"/>
          </a:solidFill>
          <a:ln w="9525">
            <a:solidFill>
              <a:srgbClr val="E4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10972800" cy="365760"/>
          </a:xfrm>
          <a:prstGeom prst="rect">
            <a:avLst/>
          </a:prstGeom>
          <a:noFill/>
        </p:spPr>
        <p:txBody>
          <a:bodyPr wrap="square">
            <a:spAutoFit/>
          </a:bodyPr>
          <a:lstStyle/>
          <a:p>
            <a:pPr algn="l"/>
            <a:r>
              <a:rPr sz="1100" b="1">
                <a:solidFill>
                  <a:srgbClr val="EA580D"/>
                </a:solidFill>
                <a:latin typeface="Calibri"/>
              </a:rPr>
              <a:t>HUB201 WEEK 3</a:t>
            </a:r>
          </a:p>
        </p:txBody>
      </p:sp>
      <p:sp>
        <p:nvSpPr>
          <p:cNvPr id="4" name="TextBox 3"/>
          <p:cNvSpPr txBox="1"/>
          <p:nvPr/>
        </p:nvSpPr>
        <p:spPr>
          <a:xfrm>
            <a:off x="457200" y="1920240"/>
            <a:ext cx="10515600" cy="914400"/>
          </a:xfrm>
          <a:prstGeom prst="rect">
            <a:avLst/>
          </a:prstGeom>
          <a:noFill/>
        </p:spPr>
        <p:txBody>
          <a:bodyPr wrap="square">
            <a:spAutoFit/>
          </a:bodyPr>
          <a:lstStyle/>
          <a:p>
            <a:pPr algn="l"/>
            <a:r>
              <a:rPr sz="3400" b="1">
                <a:solidFill>
                  <a:srgbClr val="0F172A"/>
                </a:solidFill>
                <a:latin typeface="Calibri"/>
              </a:rPr>
              <a:t>What to do with this workbook</a:t>
            </a:r>
          </a:p>
        </p:txBody>
      </p:sp>
      <p:sp>
        <p:nvSpPr>
          <p:cNvPr id="5" name="Rectangle 4"/>
          <p:cNvSpPr/>
          <p:nvPr/>
        </p:nvSpPr>
        <p:spPr>
          <a:xfrm>
            <a:off x="457200" y="2926080"/>
            <a:ext cx="2743200" cy="54864"/>
          </a:xfrm>
          <a:prstGeom prst="rect">
            <a:avLst/>
          </a:prstGeom>
          <a:solidFill>
            <a:srgbClr val="EA5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108960"/>
            <a:ext cx="11247120" cy="3200400"/>
          </a:xfrm>
          <a:prstGeom prst="rect">
            <a:avLst/>
          </a:prstGeom>
          <a:noFill/>
        </p:spPr>
        <p:txBody>
          <a:bodyPr wrap="square">
            <a:spAutoFit/>
          </a:bodyPr>
          <a:lstStyle/>
          <a:p>
            <a:pPr algn="l"/>
            <a:r>
              <a:rPr sz="1400" b="0">
                <a:solidFill>
                  <a:srgbClr val="0F172A"/>
                </a:solidFill>
                <a:latin typeface="Calibri"/>
              </a:rPr>
              <a:t>1. Complete all three exercises before Week 4. Incomplete sections are gaps, not excuses.
2. Share your completed workbook with your cohort team lead before the next session.
3. In Week 4 you will present: your PULL hypothesis, your script plan, and your first booked interviews.
4. The only thing that counts as evidence in Week 4 is a confirmed meeting or a completed conversation.
Good luck. Your goal is 10 conversations, not 10 slides.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